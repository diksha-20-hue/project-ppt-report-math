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8234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Good morning sir. We are presenting our mini-project, RSA Encryption and Decryption Using Number Theory. We implemented RSA in Python and show how number theory is used in cryptography.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RSA stands for Rivest, Shamir and Adleman. It is asymmetric: the public key encrypts and the private key decrypts. It is based on primes and modular arithmetic. The problem we solve is sending a message that only the receiver can read. Our objectives are to understand RSA, generate keys, encrypt, decrypt and implement it in Python.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RSA uses two primes, Euler's Totient, GCD to select e, modular arithmetic for encryption and decryption, and the modular inverse to get d. With p = 17 and q = 23, n is 391 and phi is 16 times 22, which is 352. We choose e = 3 because GCD(3,352) is 1. Then d = 235 because 3 times 235 = 705 = 2 times 352 plus 1. So the public key is 3, 391 and the private key is 235, 391. Member 2 will explain encryption and the code.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2: Each character is converted to its ASCII value and encrypted with C = M to the power e mod n, giving 348 16 301 301 304 for hello. Decryption uses M = C to the power d mod n with the private key, and the numbers become characters again.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2: In steps 1 to 4 we choose the primes 17 and 23, calculate n as their product, calculate phi using p minus 1 times q minus 1, and choose e equal to 3 because its GCD with 352 is 1.</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2: To find d, we start from 1 and keep increasing it until d times e leaves remainder 1 modulo phi. That gives d = 235. Then we print n, phi, the public key and the private key. Now Member 3 continues.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3: We take the message from the user. For every character, ord gives its ASCII value, and pow of m, e, n applies the RSA encryption formula with the public key. The encrypted numbers are stored in a list and printed.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3: For decryption we take each encrypted number and apply pow of c, d, n using the private key. chr converts the ASCII value back into a character, and we join all characters to get the original message.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3: The key operation in RSA is modular exponentiation. Python's built-in pow with three arguments calculates base to the power exponent mod n efficiently, without building a huge number first. We use it for both encryption and decryption. For example pow of 104, 3, 391 is 348. Now Member 4 will show the output.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4: This is our actual output. With p = 17 and q = 23 the program generated n = 391 and phi = 352, the public key 3, 391 and the private key 235, 391. The message hello was encrypted to 348, 16, 301, 301, 304 and decrypted back to hello, which confirms that the program works.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4: RSA is used in secure communication, digital signatures, authentication and key exchange. Ours is an educational version: with tiny primes it is not secure, and without padding identical letters give identical ciphertext. Real RSA uses very large keys and padding.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4: In conclusion, primes, Euler's Totient, GCD and modular arithmetic generate RSA keys and let us encrypt and decrypt a message successfully. Thank you. ALL: be ready for questions on p, q, n, phi, e, d, ASCII, pow and why e = 3.</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tx2"/>
        </a:solidFill>
        <a:effectLst/>
      </p:bgPr>
    </p:bg>
    <p:spTree>
      <p:nvGrpSpPr>
        <p:cNvPr id="1" name=""/>
        <p:cNvGrpSpPr/>
        <p:nvPr/>
      </p:nvGrpSpPr>
      <p:grpSpPr>
        <a:xfrm>
          <a:off x="0" y="0"/>
          <a:ext cx="0" cy="0"/>
          <a:chOff x="0" y="0"/>
          <a:chExt cx="0" cy="0"/>
        </a:xfrm>
      </p:grpSpPr>
      <p:sp>
        <p:nvSpPr>
          <p:cNvPr id="2" name="Accent bar"/>
          <p:cNvSpPr/>
          <p:nvPr/>
        </p:nvSpPr>
        <p:spPr>
          <a:xfrm>
            <a:off x="548640" y="1417320"/>
            <a:ext cx="109728" cy="1371600"/>
          </a:xfrm>
          <a:prstGeom prst="rect">
            <a:avLst/>
          </a:prstGeom>
          <a:solidFill>
            <a:schemeClr val="accent1"/>
          </a:solidFill>
          <a:ln/>
        </p:spPr>
      </p:sp>
      <p:sp>
        <p:nvSpPr>
          <p:cNvPr id="3" name="Text 1"/>
          <p:cNvSpPr txBox="1"/>
          <p:nvPr/>
        </p:nvSpPr>
        <p:spPr>
          <a:xfrm>
            <a:off x="868680" y="1280160"/>
            <a:ext cx="7680960" cy="1188720"/>
          </a:xfrm>
          <a:prstGeom prst="rect">
            <a:avLst/>
          </a:prstGeom>
          <a:noFill/>
          <a:ln/>
        </p:spPr>
        <p:txBody>
          <a:bodyPr wrap="square" lIns="0" tIns="0" rIns="0" bIns="0" rtlCol="0" anchor="ctr"/>
          <a:lstStyle/>
          <a:p>
            <a:pPr marL="0" indent="0">
              <a:buNone/>
            </a:pPr>
            <a:r>
              <a:rPr lang="en-US" sz="3600" b="1" dirty="0">
                <a:solidFill>
                  <a:schemeClr val="bg1"/>
                </a:solidFill>
              </a:rPr>
              <a:t>RSA Encryption and Decryption Using Number Theory</a:t>
            </a:r>
            <a:endParaRPr lang="en-US" sz="3600" dirty="0"/>
          </a:p>
        </p:txBody>
      </p:sp>
      <p:sp>
        <p:nvSpPr>
          <p:cNvPr id="4" name="Text 2"/>
          <p:cNvSpPr txBox="1"/>
          <p:nvPr/>
        </p:nvSpPr>
        <p:spPr>
          <a:xfrm>
            <a:off x="868680" y="2651760"/>
            <a:ext cx="7680960" cy="457200"/>
          </a:xfrm>
          <a:prstGeom prst="rect">
            <a:avLst/>
          </a:prstGeom>
          <a:noFill/>
          <a:ln/>
        </p:spPr>
        <p:txBody>
          <a:bodyPr wrap="square" lIns="0" tIns="0" rIns="0" bIns="0" rtlCol="0" anchor="t"/>
          <a:lstStyle/>
          <a:p>
            <a:pPr marL="0" indent="0">
              <a:buNone/>
            </a:pPr>
            <a:r>
              <a:rPr lang="en-US" sz="1600" dirty="0">
                <a:solidFill>
                  <a:schemeClr val="bg2"/>
                </a:solidFill>
              </a:rPr>
              <a:t>Mini Project  |  Department of Computer Engineering</a:t>
            </a:r>
            <a:endParaRPr lang="en-US" sz="1600" dirty="0"/>
          </a:p>
          <a:p>
            <a:pPr marL="0" indent="0">
              <a:buNone/>
            </a:pPr>
            <a:endParaRPr lang="en-US" sz="1600" dirty="0"/>
          </a:p>
        </p:txBody>
      </p:sp>
      <p:sp>
        <p:nvSpPr>
          <p:cNvPr id="5" name="TextBox 4">
            <a:extLst>
              <a:ext uri="{FF2B5EF4-FFF2-40B4-BE49-F238E27FC236}">
                <a16:creationId xmlns:a16="http://schemas.microsoft.com/office/drawing/2014/main" id="{B0904339-618B-8158-8DAC-69C9243BE175}"/>
              </a:ext>
            </a:extLst>
          </p:cNvPr>
          <p:cNvSpPr txBox="1"/>
          <p:nvPr/>
        </p:nvSpPr>
        <p:spPr>
          <a:xfrm>
            <a:off x="6611815" y="3263705"/>
            <a:ext cx="2405576" cy="1354217"/>
          </a:xfrm>
          <a:prstGeom prst="rect">
            <a:avLst/>
          </a:prstGeom>
          <a:noFill/>
        </p:spPr>
        <p:txBody>
          <a:bodyPr wrap="square" rtlCol="0">
            <a:spAutoFit/>
          </a:bodyPr>
          <a:lstStyle/>
          <a:p>
            <a:r>
              <a:rPr lang="en-IN" dirty="0">
                <a:solidFill>
                  <a:schemeClr val="bg1"/>
                </a:solidFill>
              </a:rPr>
              <a:t>Presented by </a:t>
            </a:r>
          </a:p>
          <a:p>
            <a:r>
              <a:rPr lang="en-IN" sz="1600" dirty="0">
                <a:solidFill>
                  <a:schemeClr val="bg1"/>
                </a:solidFill>
              </a:rPr>
              <a:t>Diksha </a:t>
            </a:r>
            <a:r>
              <a:rPr lang="en-IN" sz="1600" dirty="0" err="1">
                <a:solidFill>
                  <a:schemeClr val="bg1"/>
                </a:solidFill>
              </a:rPr>
              <a:t>Gunjal</a:t>
            </a:r>
            <a:r>
              <a:rPr lang="en-IN" sz="1600" dirty="0">
                <a:solidFill>
                  <a:schemeClr val="bg1"/>
                </a:solidFill>
              </a:rPr>
              <a:t> – 53</a:t>
            </a:r>
          </a:p>
          <a:p>
            <a:r>
              <a:rPr lang="en-IN" sz="1600" dirty="0">
                <a:solidFill>
                  <a:schemeClr val="bg1"/>
                </a:solidFill>
              </a:rPr>
              <a:t>Rutuja Bagul – 54</a:t>
            </a:r>
          </a:p>
          <a:p>
            <a:r>
              <a:rPr lang="en-IN" sz="1600" dirty="0">
                <a:solidFill>
                  <a:schemeClr val="bg1"/>
                </a:solidFill>
              </a:rPr>
              <a:t>Anushka Kale – 55</a:t>
            </a:r>
          </a:p>
          <a:p>
            <a:r>
              <a:rPr lang="en-IN" sz="1600" dirty="0">
                <a:solidFill>
                  <a:schemeClr val="bg1"/>
                </a:solidFill>
              </a:rPr>
              <a:t>Yuvraj </a:t>
            </a:r>
            <a:r>
              <a:rPr lang="en-IN" sz="1600" dirty="0" err="1">
                <a:solidFill>
                  <a:schemeClr val="bg1"/>
                </a:solidFill>
              </a:rPr>
              <a:t>Kurade</a:t>
            </a:r>
            <a:r>
              <a:rPr lang="en-IN" sz="1600" dirty="0">
                <a:solidFill>
                  <a:schemeClr val="bg1"/>
                </a:solidFill>
              </a:rPr>
              <a:t> - 56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chemeClr val="bg2"/>
        </a:solidFill>
        <a:effectLst/>
      </p:bgPr>
    </p:bg>
    <p:spTree>
      <p:nvGrpSpPr>
        <p:cNvPr id="1" name=""/>
        <p:cNvGrpSpPr/>
        <p:nvPr/>
      </p:nvGrpSpPr>
      <p:grpSpPr>
        <a:xfrm>
          <a:off x="0" y="0"/>
          <a:ext cx="0" cy="0"/>
          <a:chOff x="0" y="0"/>
          <a:chExt cx="0" cy="0"/>
        </a:xfrm>
      </p:grpSpPr>
      <p:sp>
        <p:nvSpPr>
          <p:cNvPr id="2" name="Header band"/>
          <p:cNvSpPr/>
          <p:nvPr/>
        </p:nvSpPr>
        <p:spPr>
          <a:xfrm>
            <a:off x="0" y="0"/>
            <a:ext cx="9144000" cy="914400"/>
          </a:xfrm>
          <a:prstGeom prst="rect">
            <a:avLst/>
          </a:prstGeom>
          <a:solidFill>
            <a:schemeClr val="tx2"/>
          </a:solidFill>
          <a:ln/>
        </p:spPr>
      </p:sp>
      <p:sp>
        <p:nvSpPr>
          <p:cNvPr id="3" name="Text 1"/>
          <p:cNvSpPr txBox="1"/>
          <p:nvPr/>
        </p:nvSpPr>
        <p:spPr>
          <a:xfrm>
            <a:off x="457200" y="91440"/>
            <a:ext cx="8229600" cy="731520"/>
          </a:xfrm>
          <a:prstGeom prst="rect">
            <a:avLst/>
          </a:prstGeom>
          <a:noFill/>
          <a:ln/>
        </p:spPr>
        <p:txBody>
          <a:bodyPr wrap="square" lIns="0" tIns="0" rIns="0" bIns="0" rtlCol="0" anchor="ctr"/>
          <a:lstStyle/>
          <a:p>
            <a:pPr marL="0" indent="0">
              <a:buNone/>
            </a:pPr>
            <a:r>
              <a:rPr lang="en-US" sz="2600" b="1" dirty="0">
                <a:solidFill>
                  <a:schemeClr val="bg1"/>
                </a:solidFill>
              </a:rPr>
              <a:t>Introduction and Objectives</a:t>
            </a:r>
            <a:endParaRPr lang="en-US" sz="2600" dirty="0"/>
          </a:p>
        </p:txBody>
      </p:sp>
      <p:sp>
        <p:nvSpPr>
          <p:cNvPr id="4" name="Column card 1"/>
          <p:cNvSpPr/>
          <p:nvPr/>
        </p:nvSpPr>
        <p:spPr>
          <a:xfrm>
            <a:off x="457200" y="1143000"/>
            <a:ext cx="4023360" cy="3383280"/>
          </a:xfrm>
          <a:prstGeom prst="roundRect">
            <a:avLst>
              <a:gd name="adj" fmla="val 2162"/>
            </a:avLst>
          </a:prstGeom>
          <a:solidFill>
            <a:schemeClr val="bg1"/>
          </a:solidFill>
          <a:ln w="12700">
            <a:solidFill>
              <a:schemeClr val="accent1"/>
            </a:solidFill>
            <a:prstDash val="solid"/>
          </a:ln>
        </p:spPr>
      </p:sp>
      <p:sp>
        <p:nvSpPr>
          <p:cNvPr id="5" name="Text 3"/>
          <p:cNvSpPr txBox="1"/>
          <p:nvPr/>
        </p:nvSpPr>
        <p:spPr>
          <a:xfrm>
            <a:off x="640080" y="1234440"/>
            <a:ext cx="3657600" cy="411480"/>
          </a:xfrm>
          <a:prstGeom prst="rect">
            <a:avLst/>
          </a:prstGeom>
          <a:noFill/>
          <a:ln/>
        </p:spPr>
        <p:txBody>
          <a:bodyPr wrap="square" lIns="0" tIns="0" rIns="0" bIns="0" rtlCol="0" anchor="ctr"/>
          <a:lstStyle/>
          <a:p>
            <a:pPr marL="0" indent="0">
              <a:buNone/>
            </a:pPr>
            <a:r>
              <a:rPr lang="en-US" sz="2100" b="1" dirty="0">
                <a:solidFill>
                  <a:schemeClr val="accent1"/>
                </a:solidFill>
              </a:rPr>
              <a:t>What is RSA?</a:t>
            </a:r>
            <a:endParaRPr lang="en-US" sz="2100" dirty="0"/>
          </a:p>
        </p:txBody>
      </p:sp>
      <p:sp>
        <p:nvSpPr>
          <p:cNvPr id="6" name="Text 4"/>
          <p:cNvSpPr txBox="1"/>
          <p:nvPr/>
        </p:nvSpPr>
        <p:spPr>
          <a:xfrm>
            <a:off x="640080" y="1783080"/>
            <a:ext cx="3657600" cy="265176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chemeClr val="tx1"/>
                </a:solidFill>
              </a:rPr>
              <a:t>Rivest, Shamir and Adleman</a:t>
            </a:r>
            <a:endParaRPr lang="en-US" sz="1700" dirty="0"/>
          </a:p>
          <a:p>
            <a:pPr marL="342900" indent="-342900">
              <a:spcAft>
                <a:spcPts val="1200"/>
              </a:spcAft>
              <a:buSzPct val="100000"/>
              <a:buChar char="•"/>
            </a:pPr>
            <a:r>
              <a:rPr lang="en-US" sz="1700" dirty="0">
                <a:solidFill>
                  <a:schemeClr val="tx1"/>
                </a:solidFill>
              </a:rPr>
              <a:t>Asymmetric: two keys</a:t>
            </a:r>
            <a:endParaRPr lang="en-US" sz="1700" dirty="0"/>
          </a:p>
          <a:p>
            <a:pPr marL="342900" indent="-342900">
              <a:spcAft>
                <a:spcPts val="1200"/>
              </a:spcAft>
              <a:buSzPct val="100000"/>
              <a:buChar char="•"/>
            </a:pPr>
            <a:r>
              <a:rPr lang="en-US" sz="1700" dirty="0">
                <a:solidFill>
                  <a:schemeClr val="tx1"/>
                </a:solidFill>
              </a:rPr>
              <a:t>Public key encrypts</a:t>
            </a:r>
            <a:endParaRPr lang="en-US" sz="1700" dirty="0"/>
          </a:p>
          <a:p>
            <a:pPr marL="342900" indent="-342900">
              <a:spcAft>
                <a:spcPts val="1200"/>
              </a:spcAft>
              <a:buSzPct val="100000"/>
              <a:buChar char="•"/>
            </a:pPr>
            <a:r>
              <a:rPr lang="en-US" sz="1700" dirty="0">
                <a:solidFill>
                  <a:schemeClr val="tx1"/>
                </a:solidFill>
              </a:rPr>
              <a:t>Private key decrypts</a:t>
            </a:r>
            <a:endParaRPr lang="en-US" sz="1700" dirty="0"/>
          </a:p>
        </p:txBody>
      </p:sp>
      <p:sp>
        <p:nvSpPr>
          <p:cNvPr id="7" name="Column card 2"/>
          <p:cNvSpPr/>
          <p:nvPr/>
        </p:nvSpPr>
        <p:spPr>
          <a:xfrm>
            <a:off x="4663440" y="1143000"/>
            <a:ext cx="4023360" cy="3383280"/>
          </a:xfrm>
          <a:prstGeom prst="roundRect">
            <a:avLst>
              <a:gd name="adj" fmla="val 2162"/>
            </a:avLst>
          </a:prstGeom>
          <a:solidFill>
            <a:schemeClr val="bg1"/>
          </a:solidFill>
          <a:ln w="12700">
            <a:solidFill>
              <a:schemeClr val="accent1"/>
            </a:solidFill>
            <a:prstDash val="solid"/>
          </a:ln>
        </p:spPr>
      </p:sp>
      <p:sp>
        <p:nvSpPr>
          <p:cNvPr id="8" name="Text 6"/>
          <p:cNvSpPr txBox="1"/>
          <p:nvPr/>
        </p:nvSpPr>
        <p:spPr>
          <a:xfrm>
            <a:off x="4846320" y="1234440"/>
            <a:ext cx="3657600" cy="411480"/>
          </a:xfrm>
          <a:prstGeom prst="rect">
            <a:avLst/>
          </a:prstGeom>
          <a:noFill/>
          <a:ln/>
        </p:spPr>
        <p:txBody>
          <a:bodyPr wrap="square" lIns="0" tIns="0" rIns="0" bIns="0" rtlCol="0" anchor="ctr"/>
          <a:lstStyle/>
          <a:p>
            <a:pPr marL="0" indent="0">
              <a:buNone/>
            </a:pPr>
            <a:r>
              <a:rPr lang="en-US" sz="2100" b="1" dirty="0">
                <a:solidFill>
                  <a:schemeClr val="accent1"/>
                </a:solidFill>
              </a:rPr>
              <a:t>Objectives</a:t>
            </a:r>
            <a:endParaRPr lang="en-US" sz="2100" dirty="0"/>
          </a:p>
        </p:txBody>
      </p:sp>
      <p:sp>
        <p:nvSpPr>
          <p:cNvPr id="9" name="Text 7"/>
          <p:cNvSpPr txBox="1"/>
          <p:nvPr/>
        </p:nvSpPr>
        <p:spPr>
          <a:xfrm>
            <a:off x="4846320" y="1783080"/>
            <a:ext cx="3657600" cy="265176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chemeClr val="tx1"/>
                </a:solidFill>
              </a:rPr>
              <a:t>Understand RSA</a:t>
            </a:r>
            <a:endParaRPr lang="en-US" sz="1700" dirty="0"/>
          </a:p>
          <a:p>
            <a:pPr marL="342900" indent="-342900">
              <a:spcAft>
                <a:spcPts val="1200"/>
              </a:spcAft>
              <a:buSzPct val="100000"/>
              <a:buChar char="•"/>
            </a:pPr>
            <a:r>
              <a:rPr lang="en-US" sz="1700" dirty="0">
                <a:solidFill>
                  <a:schemeClr val="tx1"/>
                </a:solidFill>
              </a:rPr>
              <a:t>Generate keys</a:t>
            </a:r>
            <a:endParaRPr lang="en-US" sz="1700" dirty="0"/>
          </a:p>
          <a:p>
            <a:pPr marL="342900" indent="-342900">
              <a:spcAft>
                <a:spcPts val="1200"/>
              </a:spcAft>
              <a:buSzPct val="100000"/>
              <a:buChar char="•"/>
            </a:pPr>
            <a:r>
              <a:rPr lang="en-US" sz="1700" dirty="0">
                <a:solidFill>
                  <a:schemeClr val="tx1"/>
                </a:solidFill>
              </a:rPr>
              <a:t>Encrypt a message</a:t>
            </a:r>
            <a:endParaRPr lang="en-US" sz="1700" dirty="0"/>
          </a:p>
          <a:p>
            <a:pPr marL="342900" indent="-342900">
              <a:spcAft>
                <a:spcPts val="1200"/>
              </a:spcAft>
              <a:buSzPct val="100000"/>
              <a:buChar char="•"/>
            </a:pPr>
            <a:r>
              <a:rPr lang="en-US" sz="1700" dirty="0">
                <a:solidFill>
                  <a:schemeClr val="tx1"/>
                </a:solidFill>
              </a:rPr>
              <a:t>Decrypt it back</a:t>
            </a:r>
            <a:endParaRPr lang="en-US" sz="1700" dirty="0"/>
          </a:p>
          <a:p>
            <a:pPr marL="342900" indent="-342900">
              <a:spcAft>
                <a:spcPts val="1200"/>
              </a:spcAft>
              <a:buSzPct val="100000"/>
              <a:buChar char="•"/>
            </a:pPr>
            <a:r>
              <a:rPr lang="en-US" sz="1700" dirty="0">
                <a:solidFill>
                  <a:schemeClr val="tx1"/>
                </a:solidFill>
              </a:rPr>
              <a:t>Implement in Python</a:t>
            </a:r>
            <a:endParaRPr lang="en-US" sz="1700" dirty="0"/>
          </a:p>
        </p:txBody>
      </p:sp>
      <p:sp>
        <p:nvSpPr>
          <p:cNvPr id="10" name="Text 8"/>
          <p:cNvSpPr txBox="1"/>
          <p:nvPr/>
        </p:nvSpPr>
        <p:spPr>
          <a:xfrm>
            <a:off x="5943600" y="4800600"/>
            <a:ext cx="2743200" cy="274320"/>
          </a:xfrm>
          <a:prstGeom prst="rect">
            <a:avLst/>
          </a:prstGeom>
          <a:noFill/>
          <a:ln/>
        </p:spPr>
        <p:txBody>
          <a:bodyPr wrap="square" lIns="0" tIns="0" rIns="0" bIns="0" rtlCol="0" anchor="ctr"/>
          <a:lstStyle/>
          <a:p>
            <a:pPr marL="0" indent="0" algn="r">
              <a:buNone/>
            </a:pPr>
            <a:r>
              <a:rPr lang="en-US" sz="1000" dirty="0">
                <a:solidFill>
                  <a:schemeClr val="accent4"/>
                </a:solidFill>
              </a:rPr>
              <a:t>Member 1   |   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chemeClr val="bg2"/>
        </a:solidFill>
        <a:effectLst/>
      </p:bgPr>
    </p:bg>
    <p:spTree>
      <p:nvGrpSpPr>
        <p:cNvPr id="1" name=""/>
        <p:cNvGrpSpPr/>
        <p:nvPr/>
      </p:nvGrpSpPr>
      <p:grpSpPr>
        <a:xfrm>
          <a:off x="0" y="0"/>
          <a:ext cx="0" cy="0"/>
          <a:chOff x="0" y="0"/>
          <a:chExt cx="0" cy="0"/>
        </a:xfrm>
      </p:grpSpPr>
      <p:sp>
        <p:nvSpPr>
          <p:cNvPr id="2" name="Header band"/>
          <p:cNvSpPr/>
          <p:nvPr/>
        </p:nvSpPr>
        <p:spPr>
          <a:xfrm>
            <a:off x="0" y="0"/>
            <a:ext cx="9144000" cy="914400"/>
          </a:xfrm>
          <a:prstGeom prst="rect">
            <a:avLst/>
          </a:prstGeom>
          <a:solidFill>
            <a:schemeClr val="tx2"/>
          </a:solidFill>
          <a:ln/>
        </p:spPr>
      </p:sp>
      <p:sp>
        <p:nvSpPr>
          <p:cNvPr id="3" name="Text 1"/>
          <p:cNvSpPr txBox="1"/>
          <p:nvPr/>
        </p:nvSpPr>
        <p:spPr>
          <a:xfrm>
            <a:off x="457200" y="91440"/>
            <a:ext cx="8229600" cy="731520"/>
          </a:xfrm>
          <a:prstGeom prst="rect">
            <a:avLst/>
          </a:prstGeom>
          <a:noFill/>
          <a:ln/>
        </p:spPr>
        <p:txBody>
          <a:bodyPr wrap="square" lIns="0" tIns="0" rIns="0" bIns="0" rtlCol="0" anchor="ctr"/>
          <a:lstStyle/>
          <a:p>
            <a:pPr marL="0" indent="0">
              <a:buNone/>
            </a:pPr>
            <a:r>
              <a:rPr lang="en-US" sz="2600" b="1" dirty="0">
                <a:solidFill>
                  <a:schemeClr val="bg1"/>
                </a:solidFill>
              </a:rPr>
              <a:t>Number Theory and Key Generation</a:t>
            </a:r>
            <a:endParaRPr lang="en-US" sz="2600" dirty="0"/>
          </a:p>
        </p:txBody>
      </p:sp>
      <p:sp>
        <p:nvSpPr>
          <p:cNvPr id="4" name="Column card 1"/>
          <p:cNvSpPr/>
          <p:nvPr/>
        </p:nvSpPr>
        <p:spPr>
          <a:xfrm>
            <a:off x="457200" y="1143000"/>
            <a:ext cx="4023360" cy="3383280"/>
          </a:xfrm>
          <a:prstGeom prst="roundRect">
            <a:avLst>
              <a:gd name="adj" fmla="val 2162"/>
            </a:avLst>
          </a:prstGeom>
          <a:solidFill>
            <a:schemeClr val="bg1"/>
          </a:solidFill>
          <a:ln w="12700">
            <a:solidFill>
              <a:schemeClr val="accent1"/>
            </a:solidFill>
            <a:prstDash val="solid"/>
          </a:ln>
        </p:spPr>
      </p:sp>
      <p:sp>
        <p:nvSpPr>
          <p:cNvPr id="5" name="Text 3"/>
          <p:cNvSpPr txBox="1"/>
          <p:nvPr/>
        </p:nvSpPr>
        <p:spPr>
          <a:xfrm>
            <a:off x="640080" y="1234440"/>
            <a:ext cx="3657600" cy="411480"/>
          </a:xfrm>
          <a:prstGeom prst="rect">
            <a:avLst/>
          </a:prstGeom>
          <a:noFill/>
          <a:ln/>
        </p:spPr>
        <p:txBody>
          <a:bodyPr wrap="square" lIns="0" tIns="0" rIns="0" bIns="0" rtlCol="0" anchor="ctr"/>
          <a:lstStyle/>
          <a:p>
            <a:pPr marL="0" indent="0">
              <a:buNone/>
            </a:pPr>
            <a:r>
              <a:rPr lang="en-US" sz="2100" b="1" dirty="0">
                <a:solidFill>
                  <a:schemeClr val="accent1"/>
                </a:solidFill>
              </a:rPr>
              <a:t>Number theory used</a:t>
            </a:r>
            <a:endParaRPr lang="en-US" sz="2100" dirty="0"/>
          </a:p>
        </p:txBody>
      </p:sp>
      <p:sp>
        <p:nvSpPr>
          <p:cNvPr id="6" name="Text 4"/>
          <p:cNvSpPr txBox="1"/>
          <p:nvPr/>
        </p:nvSpPr>
        <p:spPr>
          <a:xfrm>
            <a:off x="640080" y="1783080"/>
            <a:ext cx="3657600" cy="265176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chemeClr val="tx1"/>
                </a:solidFill>
              </a:rPr>
              <a:t>Primes: p, q</a:t>
            </a:r>
            <a:endParaRPr lang="en-US" sz="1700" dirty="0"/>
          </a:p>
          <a:p>
            <a:pPr marL="342900" indent="-342900">
              <a:spcAft>
                <a:spcPts val="1200"/>
              </a:spcAft>
              <a:buSzPct val="100000"/>
              <a:buChar char="•"/>
            </a:pPr>
            <a:r>
              <a:rPr lang="en-US" sz="1700" dirty="0">
                <a:solidFill>
                  <a:schemeClr val="tx1"/>
                </a:solidFill>
              </a:rPr>
              <a:t>Totient: (p - 1)(q - 1)</a:t>
            </a:r>
            <a:endParaRPr lang="en-US" sz="1700" dirty="0"/>
          </a:p>
          <a:p>
            <a:pPr marL="342900" indent="-342900">
              <a:spcAft>
                <a:spcPts val="1200"/>
              </a:spcAft>
              <a:buSzPct val="100000"/>
              <a:buChar char="•"/>
            </a:pPr>
            <a:r>
              <a:rPr lang="en-US" sz="1700" dirty="0">
                <a:solidFill>
                  <a:schemeClr val="tx1"/>
                </a:solidFill>
              </a:rPr>
              <a:t>GCD(e, phi) = 1</a:t>
            </a:r>
            <a:endParaRPr lang="en-US" sz="1700" dirty="0"/>
          </a:p>
          <a:p>
            <a:pPr marL="342900" indent="-342900">
              <a:spcAft>
                <a:spcPts val="1200"/>
              </a:spcAft>
              <a:buSzPct val="100000"/>
              <a:buChar char="•"/>
            </a:pPr>
            <a:r>
              <a:rPr lang="en-US" sz="1700" dirty="0">
                <a:solidFill>
                  <a:schemeClr val="tx1"/>
                </a:solidFill>
              </a:rPr>
              <a:t>Modular arithmetic</a:t>
            </a:r>
            <a:endParaRPr lang="en-US" sz="1700" dirty="0"/>
          </a:p>
          <a:p>
            <a:pPr marL="342900" indent="-342900">
              <a:spcAft>
                <a:spcPts val="1200"/>
              </a:spcAft>
              <a:buSzPct val="100000"/>
              <a:buChar char="•"/>
            </a:pPr>
            <a:r>
              <a:rPr lang="en-US" sz="1700" dirty="0">
                <a:solidFill>
                  <a:schemeClr val="tx1"/>
                </a:solidFill>
              </a:rPr>
              <a:t>Modular inverse: d</a:t>
            </a:r>
            <a:endParaRPr lang="en-US" sz="1700" dirty="0"/>
          </a:p>
        </p:txBody>
      </p:sp>
      <p:sp>
        <p:nvSpPr>
          <p:cNvPr id="7" name="Column card 2"/>
          <p:cNvSpPr/>
          <p:nvPr/>
        </p:nvSpPr>
        <p:spPr>
          <a:xfrm>
            <a:off x="4663440" y="1143000"/>
            <a:ext cx="4023360" cy="3383280"/>
          </a:xfrm>
          <a:prstGeom prst="roundRect">
            <a:avLst>
              <a:gd name="adj" fmla="val 2162"/>
            </a:avLst>
          </a:prstGeom>
          <a:solidFill>
            <a:schemeClr val="bg1"/>
          </a:solidFill>
          <a:ln w="12700">
            <a:solidFill>
              <a:schemeClr val="accent1"/>
            </a:solidFill>
            <a:prstDash val="solid"/>
          </a:ln>
        </p:spPr>
      </p:sp>
      <p:sp>
        <p:nvSpPr>
          <p:cNvPr id="8" name="Text 6"/>
          <p:cNvSpPr txBox="1"/>
          <p:nvPr/>
        </p:nvSpPr>
        <p:spPr>
          <a:xfrm>
            <a:off x="4846320" y="1234440"/>
            <a:ext cx="3657600" cy="411480"/>
          </a:xfrm>
          <a:prstGeom prst="rect">
            <a:avLst/>
          </a:prstGeom>
          <a:noFill/>
          <a:ln/>
        </p:spPr>
        <p:txBody>
          <a:bodyPr wrap="square" lIns="0" tIns="0" rIns="0" bIns="0" rtlCol="0" anchor="ctr"/>
          <a:lstStyle/>
          <a:p>
            <a:pPr marL="0" indent="0">
              <a:buNone/>
            </a:pPr>
            <a:r>
              <a:rPr lang="en-US" sz="2100" b="1" dirty="0">
                <a:solidFill>
                  <a:schemeClr val="accent1"/>
                </a:solidFill>
              </a:rPr>
              <a:t>Our keys</a:t>
            </a:r>
            <a:endParaRPr lang="en-US" sz="2100" dirty="0"/>
          </a:p>
        </p:txBody>
      </p:sp>
      <p:sp>
        <p:nvSpPr>
          <p:cNvPr id="9" name="Text 7"/>
          <p:cNvSpPr txBox="1"/>
          <p:nvPr/>
        </p:nvSpPr>
        <p:spPr>
          <a:xfrm>
            <a:off x="4846320" y="1783080"/>
            <a:ext cx="3657600" cy="265176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chemeClr val="tx1"/>
                </a:solidFill>
              </a:rPr>
              <a:t>p = 17, q = 23</a:t>
            </a:r>
            <a:endParaRPr lang="en-US" sz="1700" dirty="0"/>
          </a:p>
          <a:p>
            <a:pPr marL="342900" indent="-342900">
              <a:spcAft>
                <a:spcPts val="1200"/>
              </a:spcAft>
              <a:buSzPct val="100000"/>
              <a:buChar char="•"/>
            </a:pPr>
            <a:r>
              <a:rPr lang="en-US" sz="1700" dirty="0">
                <a:solidFill>
                  <a:schemeClr val="tx1"/>
                </a:solidFill>
              </a:rPr>
              <a:t>n = 391, phi = 352</a:t>
            </a:r>
            <a:endParaRPr lang="en-US" sz="1700" dirty="0"/>
          </a:p>
          <a:p>
            <a:pPr marL="342900" indent="-342900">
              <a:spcAft>
                <a:spcPts val="1200"/>
              </a:spcAft>
              <a:buSzPct val="100000"/>
              <a:buChar char="•"/>
            </a:pPr>
            <a:r>
              <a:rPr lang="en-US" sz="1700" dirty="0">
                <a:solidFill>
                  <a:schemeClr val="tx1"/>
                </a:solidFill>
              </a:rPr>
              <a:t>e = 3, d = 235</a:t>
            </a:r>
            <a:endParaRPr lang="en-US" sz="1700" dirty="0"/>
          </a:p>
          <a:p>
            <a:pPr marL="342900" indent="-342900">
              <a:spcAft>
                <a:spcPts val="1200"/>
              </a:spcAft>
              <a:buSzPct val="100000"/>
              <a:buChar char="•"/>
            </a:pPr>
            <a:r>
              <a:rPr lang="en-US" sz="1700" dirty="0">
                <a:solidFill>
                  <a:schemeClr val="tx1"/>
                </a:solidFill>
              </a:rPr>
              <a:t>Public: (3, 391)</a:t>
            </a:r>
            <a:endParaRPr lang="en-US" sz="1700" dirty="0"/>
          </a:p>
          <a:p>
            <a:pPr marL="342900" indent="-342900">
              <a:spcAft>
                <a:spcPts val="1200"/>
              </a:spcAft>
              <a:buSzPct val="100000"/>
              <a:buChar char="•"/>
            </a:pPr>
            <a:r>
              <a:rPr lang="en-US" sz="1700" dirty="0">
                <a:solidFill>
                  <a:schemeClr val="tx1"/>
                </a:solidFill>
              </a:rPr>
              <a:t>Private: (235, 391)</a:t>
            </a:r>
            <a:endParaRPr lang="en-US" sz="1700" dirty="0"/>
          </a:p>
        </p:txBody>
      </p:sp>
      <p:sp>
        <p:nvSpPr>
          <p:cNvPr id="10" name="Text 8"/>
          <p:cNvSpPr txBox="1"/>
          <p:nvPr/>
        </p:nvSpPr>
        <p:spPr>
          <a:xfrm>
            <a:off x="5943600" y="4800600"/>
            <a:ext cx="2743200" cy="274320"/>
          </a:xfrm>
          <a:prstGeom prst="rect">
            <a:avLst/>
          </a:prstGeom>
          <a:noFill/>
          <a:ln/>
        </p:spPr>
        <p:txBody>
          <a:bodyPr wrap="square" lIns="0" tIns="0" rIns="0" bIns="0" rtlCol="0" anchor="ctr"/>
          <a:lstStyle/>
          <a:p>
            <a:pPr marL="0" indent="0" algn="r">
              <a:buNone/>
            </a:pPr>
            <a:r>
              <a:rPr lang="en-US" sz="1000" dirty="0">
                <a:solidFill>
                  <a:schemeClr val="accent4"/>
                </a:solidFill>
              </a:rPr>
              <a:t>Member 1   |   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chemeClr val="bg2"/>
        </a:solidFill>
        <a:effectLst/>
      </p:bgPr>
    </p:bg>
    <p:spTree>
      <p:nvGrpSpPr>
        <p:cNvPr id="1" name=""/>
        <p:cNvGrpSpPr/>
        <p:nvPr/>
      </p:nvGrpSpPr>
      <p:grpSpPr>
        <a:xfrm>
          <a:off x="0" y="0"/>
          <a:ext cx="0" cy="0"/>
          <a:chOff x="0" y="0"/>
          <a:chExt cx="0" cy="0"/>
        </a:xfrm>
      </p:grpSpPr>
      <p:sp>
        <p:nvSpPr>
          <p:cNvPr id="2" name="Header band"/>
          <p:cNvSpPr/>
          <p:nvPr/>
        </p:nvSpPr>
        <p:spPr>
          <a:xfrm>
            <a:off x="0" y="0"/>
            <a:ext cx="9144000" cy="914400"/>
          </a:xfrm>
          <a:prstGeom prst="rect">
            <a:avLst/>
          </a:prstGeom>
          <a:solidFill>
            <a:schemeClr val="tx2"/>
          </a:solidFill>
          <a:ln/>
        </p:spPr>
      </p:sp>
      <p:sp>
        <p:nvSpPr>
          <p:cNvPr id="3" name="Text 1"/>
          <p:cNvSpPr txBox="1"/>
          <p:nvPr/>
        </p:nvSpPr>
        <p:spPr>
          <a:xfrm>
            <a:off x="457200" y="91440"/>
            <a:ext cx="8229600" cy="731520"/>
          </a:xfrm>
          <a:prstGeom prst="rect">
            <a:avLst/>
          </a:prstGeom>
          <a:noFill/>
          <a:ln/>
        </p:spPr>
        <p:txBody>
          <a:bodyPr wrap="square" lIns="0" tIns="0" rIns="0" bIns="0" rtlCol="0" anchor="ctr"/>
          <a:lstStyle/>
          <a:p>
            <a:pPr marL="0" indent="0">
              <a:buNone/>
            </a:pPr>
            <a:r>
              <a:rPr lang="en-US" sz="2600" b="1" dirty="0">
                <a:solidFill>
                  <a:schemeClr val="bg1"/>
                </a:solidFill>
              </a:rPr>
              <a:t>Encryption and Decryption</a:t>
            </a:r>
            <a:endParaRPr lang="en-US" sz="2600" dirty="0"/>
          </a:p>
        </p:txBody>
      </p:sp>
      <p:sp>
        <p:nvSpPr>
          <p:cNvPr id="4" name="Column card 1"/>
          <p:cNvSpPr/>
          <p:nvPr/>
        </p:nvSpPr>
        <p:spPr>
          <a:xfrm>
            <a:off x="457200" y="1143000"/>
            <a:ext cx="4023360" cy="3383280"/>
          </a:xfrm>
          <a:prstGeom prst="roundRect">
            <a:avLst>
              <a:gd name="adj" fmla="val 2162"/>
            </a:avLst>
          </a:prstGeom>
          <a:solidFill>
            <a:schemeClr val="bg1"/>
          </a:solidFill>
          <a:ln w="12700">
            <a:solidFill>
              <a:schemeClr val="accent1"/>
            </a:solidFill>
            <a:prstDash val="solid"/>
          </a:ln>
        </p:spPr>
      </p:sp>
      <p:sp>
        <p:nvSpPr>
          <p:cNvPr id="5" name="Text 3"/>
          <p:cNvSpPr txBox="1"/>
          <p:nvPr/>
        </p:nvSpPr>
        <p:spPr>
          <a:xfrm>
            <a:off x="640080" y="1234440"/>
            <a:ext cx="3657600" cy="411480"/>
          </a:xfrm>
          <a:prstGeom prst="rect">
            <a:avLst/>
          </a:prstGeom>
          <a:noFill/>
          <a:ln/>
        </p:spPr>
        <p:txBody>
          <a:bodyPr wrap="square" lIns="0" tIns="0" rIns="0" bIns="0" rtlCol="0" anchor="ctr"/>
          <a:lstStyle/>
          <a:p>
            <a:pPr marL="0" indent="0">
              <a:buNone/>
            </a:pPr>
            <a:r>
              <a:rPr lang="en-US" sz="2100" b="1" dirty="0">
                <a:solidFill>
                  <a:schemeClr val="accent1"/>
                </a:solidFill>
              </a:rPr>
              <a:t>Encryption</a:t>
            </a:r>
            <a:endParaRPr lang="en-US" sz="2100" dirty="0"/>
          </a:p>
        </p:txBody>
      </p:sp>
      <p:sp>
        <p:nvSpPr>
          <p:cNvPr id="6" name="Text 4"/>
          <p:cNvSpPr txBox="1"/>
          <p:nvPr/>
        </p:nvSpPr>
        <p:spPr>
          <a:xfrm>
            <a:off x="640080" y="1783080"/>
            <a:ext cx="3657600" cy="265176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chemeClr val="tx1"/>
                </a:solidFill>
              </a:rPr>
              <a:t>C = M^e mod n</a:t>
            </a:r>
            <a:endParaRPr lang="en-US" sz="1700" dirty="0"/>
          </a:p>
          <a:p>
            <a:pPr marL="342900" indent="-342900">
              <a:spcAft>
                <a:spcPts val="1200"/>
              </a:spcAft>
              <a:buSzPct val="100000"/>
              <a:buChar char="•"/>
            </a:pPr>
            <a:r>
              <a:rPr lang="en-US" sz="1700" dirty="0">
                <a:solidFill>
                  <a:schemeClr val="tx1"/>
                </a:solidFill>
              </a:rPr>
              <a:t>'h' = 104</a:t>
            </a:r>
            <a:endParaRPr lang="en-US" sz="1700" dirty="0"/>
          </a:p>
          <a:p>
            <a:pPr marL="342900" indent="-342900">
              <a:spcAft>
                <a:spcPts val="1200"/>
              </a:spcAft>
              <a:buSzPct val="100000"/>
              <a:buChar char="•"/>
            </a:pPr>
            <a:r>
              <a:rPr lang="en-US" sz="1700" dirty="0">
                <a:solidFill>
                  <a:schemeClr val="tx1"/>
                </a:solidFill>
              </a:rPr>
              <a:t>104^3 mod 391 = 348</a:t>
            </a:r>
            <a:endParaRPr lang="en-US" sz="1700" dirty="0"/>
          </a:p>
          <a:p>
            <a:pPr marL="342900" indent="-342900">
              <a:spcAft>
                <a:spcPts val="1200"/>
              </a:spcAft>
              <a:buSzPct val="100000"/>
              <a:buChar char="•"/>
            </a:pPr>
            <a:r>
              <a:rPr lang="en-US" sz="1700" dirty="0">
                <a:solidFill>
                  <a:schemeClr val="tx1"/>
                </a:solidFill>
              </a:rPr>
              <a:t>hello &gt; 348 16 301 301 304</a:t>
            </a:r>
            <a:endParaRPr lang="en-US" sz="1700" dirty="0"/>
          </a:p>
        </p:txBody>
      </p:sp>
      <p:sp>
        <p:nvSpPr>
          <p:cNvPr id="7" name="Column card 2"/>
          <p:cNvSpPr/>
          <p:nvPr/>
        </p:nvSpPr>
        <p:spPr>
          <a:xfrm>
            <a:off x="4663440" y="1143000"/>
            <a:ext cx="4023360" cy="3383280"/>
          </a:xfrm>
          <a:prstGeom prst="roundRect">
            <a:avLst>
              <a:gd name="adj" fmla="val 2162"/>
            </a:avLst>
          </a:prstGeom>
          <a:solidFill>
            <a:schemeClr val="bg1"/>
          </a:solidFill>
          <a:ln w="12700">
            <a:solidFill>
              <a:schemeClr val="accent1"/>
            </a:solidFill>
            <a:prstDash val="solid"/>
          </a:ln>
        </p:spPr>
      </p:sp>
      <p:sp>
        <p:nvSpPr>
          <p:cNvPr id="8" name="Text 6"/>
          <p:cNvSpPr txBox="1"/>
          <p:nvPr/>
        </p:nvSpPr>
        <p:spPr>
          <a:xfrm>
            <a:off x="4846320" y="1234440"/>
            <a:ext cx="3657600" cy="411480"/>
          </a:xfrm>
          <a:prstGeom prst="rect">
            <a:avLst/>
          </a:prstGeom>
          <a:noFill/>
          <a:ln/>
        </p:spPr>
        <p:txBody>
          <a:bodyPr wrap="square" lIns="0" tIns="0" rIns="0" bIns="0" rtlCol="0" anchor="ctr"/>
          <a:lstStyle/>
          <a:p>
            <a:pPr marL="0" indent="0">
              <a:buNone/>
            </a:pPr>
            <a:r>
              <a:rPr lang="en-US" sz="2100" b="1" dirty="0">
                <a:solidFill>
                  <a:schemeClr val="accent1"/>
                </a:solidFill>
              </a:rPr>
              <a:t>Decryption</a:t>
            </a:r>
            <a:endParaRPr lang="en-US" sz="2100" dirty="0"/>
          </a:p>
        </p:txBody>
      </p:sp>
      <p:sp>
        <p:nvSpPr>
          <p:cNvPr id="9" name="Text 7"/>
          <p:cNvSpPr txBox="1"/>
          <p:nvPr/>
        </p:nvSpPr>
        <p:spPr>
          <a:xfrm>
            <a:off x="4846320" y="1783080"/>
            <a:ext cx="3657600" cy="265176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chemeClr val="tx1"/>
                </a:solidFill>
              </a:rPr>
              <a:t>M = C^d mod n</a:t>
            </a:r>
            <a:endParaRPr lang="en-US" sz="1700" dirty="0"/>
          </a:p>
          <a:p>
            <a:pPr marL="342900" indent="-342900">
              <a:spcAft>
                <a:spcPts val="1200"/>
              </a:spcAft>
              <a:buSzPct val="100000"/>
              <a:buChar char="•"/>
            </a:pPr>
            <a:r>
              <a:rPr lang="en-US" sz="1700" dirty="0">
                <a:solidFill>
                  <a:schemeClr val="tx1"/>
                </a:solidFill>
              </a:rPr>
              <a:t>348^235 mod 391 = 104</a:t>
            </a:r>
            <a:endParaRPr lang="en-US" sz="1700" dirty="0"/>
          </a:p>
          <a:p>
            <a:pPr marL="342900" indent="-342900">
              <a:spcAft>
                <a:spcPts val="1200"/>
              </a:spcAft>
              <a:buSzPct val="100000"/>
              <a:buChar char="•"/>
            </a:pPr>
            <a:r>
              <a:rPr lang="en-US" sz="1700" dirty="0">
                <a:solidFill>
                  <a:schemeClr val="tx1"/>
                </a:solidFill>
              </a:rPr>
              <a:t>104 = 'h'</a:t>
            </a:r>
            <a:endParaRPr lang="en-US" sz="1700" dirty="0"/>
          </a:p>
          <a:p>
            <a:pPr marL="342900" indent="-342900">
              <a:spcAft>
                <a:spcPts val="1200"/>
              </a:spcAft>
              <a:buSzPct val="100000"/>
              <a:buChar char="•"/>
            </a:pPr>
            <a:r>
              <a:rPr lang="en-US" sz="1700" dirty="0">
                <a:solidFill>
                  <a:schemeClr val="tx1"/>
                </a:solidFill>
              </a:rPr>
              <a:t>Back to hello</a:t>
            </a:r>
            <a:endParaRPr lang="en-US" sz="1700" dirty="0"/>
          </a:p>
        </p:txBody>
      </p:sp>
      <p:sp>
        <p:nvSpPr>
          <p:cNvPr id="10" name="Text 8"/>
          <p:cNvSpPr txBox="1"/>
          <p:nvPr/>
        </p:nvSpPr>
        <p:spPr>
          <a:xfrm>
            <a:off x="5943600" y="4800600"/>
            <a:ext cx="2743200" cy="274320"/>
          </a:xfrm>
          <a:prstGeom prst="rect">
            <a:avLst/>
          </a:prstGeom>
          <a:noFill/>
          <a:ln/>
        </p:spPr>
        <p:txBody>
          <a:bodyPr wrap="square" lIns="0" tIns="0" rIns="0" bIns="0" rtlCol="0" anchor="ctr"/>
          <a:lstStyle/>
          <a:p>
            <a:pPr marL="0" indent="0" algn="r">
              <a:buNone/>
            </a:pPr>
            <a:r>
              <a:rPr lang="en-US" sz="1000" dirty="0">
                <a:solidFill>
                  <a:schemeClr val="accent4"/>
                </a:solidFill>
              </a:rPr>
              <a:t>Member 2   |   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chemeClr val="bg2"/>
        </a:solidFill>
        <a:effectLst/>
      </p:bgPr>
    </p:bg>
    <p:spTree>
      <p:nvGrpSpPr>
        <p:cNvPr id="1" name=""/>
        <p:cNvGrpSpPr/>
        <p:nvPr/>
      </p:nvGrpSpPr>
      <p:grpSpPr>
        <a:xfrm>
          <a:off x="0" y="0"/>
          <a:ext cx="0" cy="0"/>
          <a:chOff x="0" y="0"/>
          <a:chExt cx="0" cy="0"/>
        </a:xfrm>
      </p:grpSpPr>
      <p:sp>
        <p:nvSpPr>
          <p:cNvPr id="2" name="Header band"/>
          <p:cNvSpPr/>
          <p:nvPr/>
        </p:nvSpPr>
        <p:spPr>
          <a:xfrm>
            <a:off x="0" y="0"/>
            <a:ext cx="9144000" cy="914400"/>
          </a:xfrm>
          <a:prstGeom prst="rect">
            <a:avLst/>
          </a:prstGeom>
          <a:solidFill>
            <a:schemeClr val="tx2"/>
          </a:solidFill>
          <a:ln/>
        </p:spPr>
      </p:sp>
      <p:sp>
        <p:nvSpPr>
          <p:cNvPr id="3" name="Text 1"/>
          <p:cNvSpPr txBox="1"/>
          <p:nvPr/>
        </p:nvSpPr>
        <p:spPr>
          <a:xfrm>
            <a:off x="457200" y="91440"/>
            <a:ext cx="8229600" cy="731520"/>
          </a:xfrm>
          <a:prstGeom prst="rect">
            <a:avLst/>
          </a:prstGeom>
          <a:noFill/>
          <a:ln/>
        </p:spPr>
        <p:txBody>
          <a:bodyPr wrap="square" lIns="0" tIns="0" rIns="0" bIns="0" rtlCol="0" anchor="ctr"/>
          <a:lstStyle/>
          <a:p>
            <a:pPr marL="0" indent="0">
              <a:buNone/>
            </a:pPr>
            <a:r>
              <a:rPr lang="en-US" sz="2600" b="1" dirty="0">
                <a:solidFill>
                  <a:schemeClr val="bg1"/>
                </a:solidFill>
              </a:rPr>
              <a:t>Code: Primes, n, phi and e</a:t>
            </a:r>
            <a:endParaRPr lang="en-US" sz="2600" dirty="0"/>
          </a:p>
        </p:txBody>
      </p:sp>
      <p:sp>
        <p:nvSpPr>
          <p:cNvPr id="4" name="Code panel"/>
          <p:cNvSpPr/>
          <p:nvPr/>
        </p:nvSpPr>
        <p:spPr>
          <a:xfrm>
            <a:off x="457200" y="1143000"/>
            <a:ext cx="5120640" cy="3429000"/>
          </a:xfrm>
          <a:prstGeom prst="roundRect">
            <a:avLst>
              <a:gd name="adj" fmla="val 2133"/>
            </a:avLst>
          </a:prstGeom>
          <a:solidFill>
            <a:schemeClr val="tx2"/>
          </a:solidFill>
          <a:ln/>
        </p:spPr>
      </p:sp>
      <p:sp>
        <p:nvSpPr>
          <p:cNvPr id="5" name="Text 3"/>
          <p:cNvSpPr txBox="1"/>
          <p:nvPr/>
        </p:nvSpPr>
        <p:spPr>
          <a:xfrm>
            <a:off x="640080" y="1234440"/>
            <a:ext cx="4754880" cy="3246120"/>
          </a:xfrm>
          <a:prstGeom prst="rect">
            <a:avLst/>
          </a:prstGeom>
          <a:noFill/>
          <a:ln/>
        </p:spPr>
        <p:txBody>
          <a:bodyPr wrap="square" lIns="0" tIns="0" rIns="0" bIns="0" rtlCol="0" anchor="t"/>
          <a:lstStyle/>
          <a:p>
            <a:pPr marL="0" indent="0">
              <a:buNone/>
            </a:pPr>
            <a:r>
              <a:rPr lang="en-US" sz="1400" dirty="0">
                <a:solidFill>
                  <a:schemeClr val="bg2"/>
                </a:solidFill>
                <a:latin typeface="Consolas" pitchFamily="34" charset="0"/>
                <a:ea typeface="Consolas" pitchFamily="34" charset="-122"/>
                <a:cs typeface="Consolas" pitchFamily="34" charset="-120"/>
              </a:rPr>
              <a:t># Step 1: Choose two prime numbers</a:t>
            </a:r>
            <a:endParaRPr lang="en-US" sz="1400" dirty="0"/>
          </a:p>
          <a:p>
            <a:pPr marL="0" indent="0">
              <a:buNone/>
            </a:pPr>
            <a:r>
              <a:rPr lang="en-US" sz="1400" dirty="0">
                <a:solidFill>
                  <a:schemeClr val="bg2"/>
                </a:solidFill>
                <a:latin typeface="Consolas" pitchFamily="34" charset="0"/>
                <a:ea typeface="Consolas" pitchFamily="34" charset="-122"/>
                <a:cs typeface="Consolas" pitchFamily="34" charset="-120"/>
              </a:rPr>
              <a:t>p = 17</a:t>
            </a:r>
            <a:endParaRPr lang="en-US" sz="1400" dirty="0"/>
          </a:p>
          <a:p>
            <a:pPr marL="0" indent="0">
              <a:buNone/>
            </a:pPr>
            <a:r>
              <a:rPr lang="en-US" sz="1400" dirty="0">
                <a:solidFill>
                  <a:schemeClr val="bg2"/>
                </a:solidFill>
                <a:latin typeface="Consolas" pitchFamily="34" charset="0"/>
                <a:ea typeface="Consolas" pitchFamily="34" charset="-122"/>
                <a:cs typeface="Consolas" pitchFamily="34" charset="-120"/>
              </a:rPr>
              <a:t>q = 23</a:t>
            </a:r>
            <a:endParaRPr lang="en-US" sz="1400" dirty="0"/>
          </a:p>
          <a:p>
            <a:pPr marL="0" indent="0">
              <a:buNone/>
            </a:pPr>
            <a:endParaRPr lang="en-US" sz="1400" dirty="0"/>
          </a:p>
          <a:p>
            <a:pPr marL="0" indent="0">
              <a:buNone/>
            </a:pPr>
            <a:r>
              <a:rPr lang="en-US" sz="1400" dirty="0">
                <a:solidFill>
                  <a:schemeClr val="bg2"/>
                </a:solidFill>
                <a:latin typeface="Consolas" pitchFamily="34" charset="0"/>
                <a:ea typeface="Consolas" pitchFamily="34" charset="-122"/>
                <a:cs typeface="Consolas" pitchFamily="34" charset="-120"/>
              </a:rPr>
              <a:t># Step 2: Calculate n</a:t>
            </a:r>
            <a:endParaRPr lang="en-US" sz="1400" dirty="0"/>
          </a:p>
          <a:p>
            <a:pPr marL="0" indent="0">
              <a:buNone/>
            </a:pPr>
            <a:r>
              <a:rPr lang="en-US" sz="1400" dirty="0">
                <a:solidFill>
                  <a:schemeClr val="bg2"/>
                </a:solidFill>
                <a:latin typeface="Consolas" pitchFamily="34" charset="0"/>
                <a:ea typeface="Consolas" pitchFamily="34" charset="-122"/>
                <a:cs typeface="Consolas" pitchFamily="34" charset="-120"/>
              </a:rPr>
              <a:t>n = p * q</a:t>
            </a:r>
            <a:endParaRPr lang="en-US" sz="1400" dirty="0"/>
          </a:p>
          <a:p>
            <a:pPr marL="0" indent="0">
              <a:buNone/>
            </a:pPr>
            <a:endParaRPr lang="en-US" sz="1400" dirty="0"/>
          </a:p>
          <a:p>
            <a:pPr marL="0" indent="0">
              <a:buNone/>
            </a:pPr>
            <a:r>
              <a:rPr lang="en-US" sz="1400" dirty="0">
                <a:solidFill>
                  <a:schemeClr val="bg2"/>
                </a:solidFill>
                <a:latin typeface="Consolas" pitchFamily="34" charset="0"/>
                <a:ea typeface="Consolas" pitchFamily="34" charset="-122"/>
                <a:cs typeface="Consolas" pitchFamily="34" charset="-120"/>
              </a:rPr>
              <a:t># Step 3: Calculate Euler's Totient</a:t>
            </a:r>
            <a:endParaRPr lang="en-US" sz="1400" dirty="0"/>
          </a:p>
          <a:p>
            <a:pPr marL="0" indent="0">
              <a:buNone/>
            </a:pPr>
            <a:r>
              <a:rPr lang="en-US" sz="1400" dirty="0">
                <a:solidFill>
                  <a:schemeClr val="bg2"/>
                </a:solidFill>
                <a:latin typeface="Consolas" pitchFamily="34" charset="0"/>
                <a:ea typeface="Consolas" pitchFamily="34" charset="-122"/>
                <a:cs typeface="Consolas" pitchFamily="34" charset="-120"/>
              </a:rPr>
              <a:t>phi = (p - 1) * (q - 1)</a:t>
            </a:r>
            <a:endParaRPr lang="en-US" sz="1400" dirty="0"/>
          </a:p>
          <a:p>
            <a:pPr marL="0" indent="0">
              <a:buNone/>
            </a:pPr>
            <a:endParaRPr lang="en-US" sz="1400" dirty="0"/>
          </a:p>
          <a:p>
            <a:pPr marL="0" indent="0">
              <a:buNone/>
            </a:pPr>
            <a:r>
              <a:rPr lang="en-US" sz="1400" dirty="0">
                <a:solidFill>
                  <a:schemeClr val="bg2"/>
                </a:solidFill>
                <a:latin typeface="Consolas" pitchFamily="34" charset="0"/>
                <a:ea typeface="Consolas" pitchFamily="34" charset="-122"/>
                <a:cs typeface="Consolas" pitchFamily="34" charset="-120"/>
              </a:rPr>
              <a:t># Step 4: Choose e</a:t>
            </a:r>
            <a:endParaRPr lang="en-US" sz="1400" dirty="0"/>
          </a:p>
          <a:p>
            <a:pPr marL="0" indent="0">
              <a:buNone/>
            </a:pPr>
            <a:r>
              <a:rPr lang="en-US" sz="1400" dirty="0">
                <a:solidFill>
                  <a:schemeClr val="bg2"/>
                </a:solidFill>
                <a:latin typeface="Consolas" pitchFamily="34" charset="0"/>
                <a:ea typeface="Consolas" pitchFamily="34" charset="-122"/>
                <a:cs typeface="Consolas" pitchFamily="34" charset="-120"/>
              </a:rPr>
              <a:t>e = 3</a:t>
            </a:r>
            <a:endParaRPr lang="en-US" sz="1400" dirty="0"/>
          </a:p>
        </p:txBody>
      </p:sp>
      <p:sp>
        <p:nvSpPr>
          <p:cNvPr id="6" name="Text 4"/>
          <p:cNvSpPr txBox="1"/>
          <p:nvPr/>
        </p:nvSpPr>
        <p:spPr>
          <a:xfrm>
            <a:off x="5760720" y="1280160"/>
            <a:ext cx="3017520" cy="3291840"/>
          </a:xfrm>
          <a:prstGeom prst="rect">
            <a:avLst/>
          </a:prstGeom>
          <a:noFill/>
          <a:ln/>
        </p:spPr>
        <p:txBody>
          <a:bodyPr wrap="square" rtlCol="0" anchor="t"/>
          <a:lstStyle/>
          <a:p>
            <a:pPr marL="342900" indent="-342900">
              <a:spcAft>
                <a:spcPts val="1400"/>
              </a:spcAft>
              <a:buSzPct val="100000"/>
              <a:buChar char="•"/>
            </a:pPr>
            <a:r>
              <a:rPr lang="en-US" sz="1700" dirty="0">
                <a:solidFill>
                  <a:schemeClr val="tx1"/>
                </a:solidFill>
              </a:rPr>
              <a:t>Steps 1 to 4</a:t>
            </a:r>
            <a:endParaRPr lang="en-US" sz="1700" dirty="0"/>
          </a:p>
          <a:p>
            <a:pPr marL="342900" indent="-342900">
              <a:spcAft>
                <a:spcPts val="1400"/>
              </a:spcAft>
              <a:buSzPct val="100000"/>
              <a:buChar char="•"/>
            </a:pPr>
            <a:r>
              <a:rPr lang="en-US" sz="1700" dirty="0">
                <a:solidFill>
                  <a:schemeClr val="tx1"/>
                </a:solidFill>
              </a:rPr>
              <a:t>n = p x q</a:t>
            </a:r>
            <a:endParaRPr lang="en-US" sz="1700" dirty="0"/>
          </a:p>
          <a:p>
            <a:pPr marL="342900" indent="-342900">
              <a:spcAft>
                <a:spcPts val="1400"/>
              </a:spcAft>
              <a:buSzPct val="100000"/>
              <a:buChar char="•"/>
            </a:pPr>
            <a:r>
              <a:rPr lang="en-US" sz="1700" dirty="0">
                <a:solidFill>
                  <a:schemeClr val="tx1"/>
                </a:solidFill>
              </a:rPr>
              <a:t>phi = (p - 1)(q - 1)</a:t>
            </a:r>
            <a:endParaRPr lang="en-US" sz="1700" dirty="0"/>
          </a:p>
          <a:p>
            <a:pPr marL="342900" indent="-342900">
              <a:spcAft>
                <a:spcPts val="1400"/>
              </a:spcAft>
              <a:buSzPct val="100000"/>
              <a:buChar char="•"/>
            </a:pPr>
            <a:r>
              <a:rPr lang="en-US" sz="1700" dirty="0">
                <a:solidFill>
                  <a:schemeClr val="tx1"/>
                </a:solidFill>
              </a:rPr>
              <a:t>e = 3 (GCD with phi is 1)</a:t>
            </a:r>
            <a:endParaRPr lang="en-US" sz="1700" dirty="0"/>
          </a:p>
        </p:txBody>
      </p:sp>
      <p:sp>
        <p:nvSpPr>
          <p:cNvPr id="7" name="Text 5"/>
          <p:cNvSpPr txBox="1"/>
          <p:nvPr/>
        </p:nvSpPr>
        <p:spPr>
          <a:xfrm>
            <a:off x="5943600" y="4800600"/>
            <a:ext cx="2743200" cy="274320"/>
          </a:xfrm>
          <a:prstGeom prst="rect">
            <a:avLst/>
          </a:prstGeom>
          <a:noFill/>
          <a:ln/>
        </p:spPr>
        <p:txBody>
          <a:bodyPr wrap="square" lIns="0" tIns="0" rIns="0" bIns="0" rtlCol="0" anchor="ctr"/>
          <a:lstStyle/>
          <a:p>
            <a:pPr marL="0" indent="0" algn="r">
              <a:buNone/>
            </a:pPr>
            <a:r>
              <a:rPr lang="en-US" sz="1000" dirty="0">
                <a:solidFill>
                  <a:schemeClr val="accent4"/>
                </a:solidFill>
              </a:rPr>
              <a:t>Member 2   |   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chemeClr val="bg2"/>
        </a:solidFill>
        <a:effectLst/>
      </p:bgPr>
    </p:bg>
    <p:spTree>
      <p:nvGrpSpPr>
        <p:cNvPr id="1" name=""/>
        <p:cNvGrpSpPr/>
        <p:nvPr/>
      </p:nvGrpSpPr>
      <p:grpSpPr>
        <a:xfrm>
          <a:off x="0" y="0"/>
          <a:ext cx="0" cy="0"/>
          <a:chOff x="0" y="0"/>
          <a:chExt cx="0" cy="0"/>
        </a:xfrm>
      </p:grpSpPr>
      <p:sp>
        <p:nvSpPr>
          <p:cNvPr id="2" name="Header band"/>
          <p:cNvSpPr/>
          <p:nvPr/>
        </p:nvSpPr>
        <p:spPr>
          <a:xfrm>
            <a:off x="0" y="0"/>
            <a:ext cx="9144000" cy="914400"/>
          </a:xfrm>
          <a:prstGeom prst="rect">
            <a:avLst/>
          </a:prstGeom>
          <a:solidFill>
            <a:schemeClr val="tx2"/>
          </a:solidFill>
          <a:ln/>
        </p:spPr>
      </p:sp>
      <p:sp>
        <p:nvSpPr>
          <p:cNvPr id="3" name="Text 1"/>
          <p:cNvSpPr txBox="1"/>
          <p:nvPr/>
        </p:nvSpPr>
        <p:spPr>
          <a:xfrm>
            <a:off x="457200" y="91440"/>
            <a:ext cx="8229600" cy="731520"/>
          </a:xfrm>
          <a:prstGeom prst="rect">
            <a:avLst/>
          </a:prstGeom>
          <a:noFill/>
          <a:ln/>
        </p:spPr>
        <p:txBody>
          <a:bodyPr wrap="square" lIns="0" tIns="0" rIns="0" bIns="0" rtlCol="0" anchor="ctr"/>
          <a:lstStyle/>
          <a:p>
            <a:pPr marL="0" indent="0">
              <a:buNone/>
            </a:pPr>
            <a:r>
              <a:rPr lang="en-US" sz="2600" b="1" dirty="0">
                <a:solidFill>
                  <a:schemeClr val="bg1"/>
                </a:solidFill>
              </a:rPr>
              <a:t>Code: Finding d and Keys</a:t>
            </a:r>
            <a:endParaRPr lang="en-US" sz="2600" dirty="0"/>
          </a:p>
        </p:txBody>
      </p:sp>
      <p:sp>
        <p:nvSpPr>
          <p:cNvPr id="4" name="Code panel"/>
          <p:cNvSpPr/>
          <p:nvPr/>
        </p:nvSpPr>
        <p:spPr>
          <a:xfrm>
            <a:off x="457200" y="1143000"/>
            <a:ext cx="5120640" cy="3429000"/>
          </a:xfrm>
          <a:prstGeom prst="roundRect">
            <a:avLst>
              <a:gd name="adj" fmla="val 2133"/>
            </a:avLst>
          </a:prstGeom>
          <a:solidFill>
            <a:schemeClr val="tx2"/>
          </a:solidFill>
          <a:ln/>
        </p:spPr>
      </p:sp>
      <p:sp>
        <p:nvSpPr>
          <p:cNvPr id="5" name="Text 3"/>
          <p:cNvSpPr txBox="1"/>
          <p:nvPr/>
        </p:nvSpPr>
        <p:spPr>
          <a:xfrm>
            <a:off x="640080" y="1234440"/>
            <a:ext cx="4754880" cy="3246120"/>
          </a:xfrm>
          <a:prstGeom prst="rect">
            <a:avLst/>
          </a:prstGeom>
          <a:noFill/>
          <a:ln/>
        </p:spPr>
        <p:txBody>
          <a:bodyPr wrap="square" lIns="0" tIns="0" rIns="0" bIns="0" rtlCol="0" anchor="t"/>
          <a:lstStyle/>
          <a:p>
            <a:pPr marL="0" indent="0">
              <a:buNone/>
            </a:pPr>
            <a:r>
              <a:rPr lang="en-US" sz="1600" dirty="0">
                <a:solidFill>
                  <a:schemeClr val="bg2"/>
                </a:solidFill>
                <a:latin typeface="Consolas" pitchFamily="34" charset="0"/>
                <a:ea typeface="Consolas" pitchFamily="34" charset="-122"/>
                <a:cs typeface="Consolas" pitchFamily="34" charset="-120"/>
              </a:rPr>
              <a:t># Step 5: Find d</a:t>
            </a:r>
            <a:endParaRPr lang="en-US" sz="1600" dirty="0"/>
          </a:p>
          <a:p>
            <a:pPr marL="0" indent="0">
              <a:buNone/>
            </a:pPr>
            <a:r>
              <a:rPr lang="en-US" sz="1600" dirty="0">
                <a:solidFill>
                  <a:schemeClr val="bg2"/>
                </a:solidFill>
                <a:latin typeface="Consolas" pitchFamily="34" charset="0"/>
                <a:ea typeface="Consolas" pitchFamily="34" charset="-122"/>
                <a:cs typeface="Consolas" pitchFamily="34" charset="-120"/>
              </a:rPr>
              <a:t>d = 1</a:t>
            </a:r>
            <a:endParaRPr lang="en-US" sz="1600" dirty="0"/>
          </a:p>
          <a:p>
            <a:pPr marL="0" indent="0">
              <a:buNone/>
            </a:pPr>
            <a:endParaRPr lang="en-US" sz="1600" dirty="0"/>
          </a:p>
          <a:p>
            <a:pPr marL="0" indent="0">
              <a:buNone/>
            </a:pPr>
            <a:r>
              <a:rPr lang="en-US" sz="1600" dirty="0">
                <a:solidFill>
                  <a:schemeClr val="bg2"/>
                </a:solidFill>
                <a:latin typeface="Consolas" pitchFamily="34" charset="0"/>
                <a:ea typeface="Consolas" pitchFamily="34" charset="-122"/>
                <a:cs typeface="Consolas" pitchFamily="34" charset="-120"/>
              </a:rPr>
              <a:t>while (d * e) % phi != 1:</a:t>
            </a:r>
            <a:endParaRPr lang="en-US" sz="1600" dirty="0"/>
          </a:p>
          <a:p>
            <a:pPr marL="0" indent="0">
              <a:buNone/>
            </a:pPr>
            <a:r>
              <a:rPr lang="en-US" sz="1600" dirty="0">
                <a:solidFill>
                  <a:schemeClr val="bg2"/>
                </a:solidFill>
                <a:latin typeface="Consolas" pitchFamily="34" charset="0"/>
                <a:ea typeface="Consolas" pitchFamily="34" charset="-122"/>
                <a:cs typeface="Consolas" pitchFamily="34" charset="-120"/>
              </a:rPr>
              <a:t>    d = d + 1</a:t>
            </a:r>
            <a:endParaRPr lang="en-US" sz="1600" dirty="0"/>
          </a:p>
          <a:p>
            <a:pPr marL="0" indent="0">
              <a:buNone/>
            </a:pPr>
            <a:endParaRPr lang="en-US" sz="1600" dirty="0"/>
          </a:p>
          <a:p>
            <a:pPr marL="0" indent="0">
              <a:buNone/>
            </a:pPr>
            <a:r>
              <a:rPr lang="en-US" sz="1600" dirty="0">
                <a:solidFill>
                  <a:schemeClr val="bg2"/>
                </a:solidFill>
                <a:latin typeface="Consolas" pitchFamily="34" charset="0"/>
                <a:ea typeface="Consolas" pitchFamily="34" charset="-122"/>
                <a:cs typeface="Consolas" pitchFamily="34" charset="-120"/>
              </a:rPr>
              <a:t>print("n =", n)</a:t>
            </a:r>
            <a:endParaRPr lang="en-US" sz="1600" dirty="0"/>
          </a:p>
          <a:p>
            <a:pPr marL="0" indent="0">
              <a:buNone/>
            </a:pPr>
            <a:r>
              <a:rPr lang="en-US" sz="1600" dirty="0">
                <a:solidFill>
                  <a:schemeClr val="bg2"/>
                </a:solidFill>
                <a:latin typeface="Consolas" pitchFamily="34" charset="0"/>
                <a:ea typeface="Consolas" pitchFamily="34" charset="-122"/>
                <a:cs typeface="Consolas" pitchFamily="34" charset="-120"/>
              </a:rPr>
              <a:t>print("phi(n) =", phi)</a:t>
            </a:r>
            <a:endParaRPr lang="en-US" sz="1600" dirty="0"/>
          </a:p>
          <a:p>
            <a:pPr marL="0" indent="0">
              <a:buNone/>
            </a:pPr>
            <a:r>
              <a:rPr lang="en-US" sz="1600" dirty="0">
                <a:solidFill>
                  <a:schemeClr val="bg2"/>
                </a:solidFill>
                <a:latin typeface="Consolas" pitchFamily="34" charset="0"/>
                <a:ea typeface="Consolas" pitchFamily="34" charset="-122"/>
                <a:cs typeface="Consolas" pitchFamily="34" charset="-120"/>
              </a:rPr>
              <a:t>print("Public Key =", (e, n))</a:t>
            </a:r>
            <a:endParaRPr lang="en-US" sz="1600" dirty="0"/>
          </a:p>
          <a:p>
            <a:pPr marL="0" indent="0">
              <a:buNone/>
            </a:pPr>
            <a:r>
              <a:rPr lang="en-US" sz="1600" dirty="0">
                <a:solidFill>
                  <a:schemeClr val="bg2"/>
                </a:solidFill>
                <a:latin typeface="Consolas" pitchFamily="34" charset="0"/>
                <a:ea typeface="Consolas" pitchFamily="34" charset="-122"/>
                <a:cs typeface="Consolas" pitchFamily="34" charset="-120"/>
              </a:rPr>
              <a:t>print("Private Key =", (d, n))</a:t>
            </a:r>
            <a:endParaRPr lang="en-US" sz="1600" dirty="0"/>
          </a:p>
        </p:txBody>
      </p:sp>
      <p:sp>
        <p:nvSpPr>
          <p:cNvPr id="6" name="Text 4"/>
          <p:cNvSpPr txBox="1"/>
          <p:nvPr/>
        </p:nvSpPr>
        <p:spPr>
          <a:xfrm>
            <a:off x="5760720" y="1280160"/>
            <a:ext cx="3017520" cy="3291840"/>
          </a:xfrm>
          <a:prstGeom prst="rect">
            <a:avLst/>
          </a:prstGeom>
          <a:noFill/>
          <a:ln/>
        </p:spPr>
        <p:txBody>
          <a:bodyPr wrap="square" rtlCol="0" anchor="t"/>
          <a:lstStyle/>
          <a:p>
            <a:pPr marL="342900" indent="-342900">
              <a:spcAft>
                <a:spcPts val="1400"/>
              </a:spcAft>
              <a:buSzPct val="100000"/>
              <a:buChar char="•"/>
            </a:pPr>
            <a:r>
              <a:rPr lang="en-US" sz="1700" dirty="0">
                <a:solidFill>
                  <a:schemeClr val="tx1"/>
                </a:solidFill>
              </a:rPr>
              <a:t>Step 5: find d</a:t>
            </a:r>
            <a:endParaRPr lang="en-US" sz="1700" dirty="0"/>
          </a:p>
          <a:p>
            <a:pPr marL="342900" indent="-342900">
              <a:spcAft>
                <a:spcPts val="1400"/>
              </a:spcAft>
              <a:buSzPct val="100000"/>
              <a:buChar char="•"/>
            </a:pPr>
            <a:r>
              <a:rPr lang="en-US" sz="1700" dirty="0">
                <a:solidFill>
                  <a:schemeClr val="tx1"/>
                </a:solidFill>
              </a:rPr>
              <a:t>Loop until (d x e) mod phi = 1</a:t>
            </a:r>
            <a:endParaRPr lang="en-US" sz="1700" dirty="0"/>
          </a:p>
          <a:p>
            <a:pPr marL="342900" indent="-342900">
              <a:spcAft>
                <a:spcPts val="1400"/>
              </a:spcAft>
              <a:buSzPct val="100000"/>
              <a:buChar char="•"/>
            </a:pPr>
            <a:r>
              <a:rPr lang="en-US" sz="1700" dirty="0">
                <a:solidFill>
                  <a:schemeClr val="tx1"/>
                </a:solidFill>
              </a:rPr>
              <a:t>d = 235</a:t>
            </a:r>
            <a:endParaRPr lang="en-US" sz="1700" dirty="0"/>
          </a:p>
          <a:p>
            <a:pPr marL="342900" indent="-342900">
              <a:spcAft>
                <a:spcPts val="1400"/>
              </a:spcAft>
              <a:buSzPct val="100000"/>
              <a:buChar char="•"/>
            </a:pPr>
            <a:r>
              <a:rPr lang="en-US" sz="1700" dirty="0">
                <a:solidFill>
                  <a:schemeClr val="tx1"/>
                </a:solidFill>
              </a:rPr>
              <a:t>Then print both keys</a:t>
            </a:r>
            <a:endParaRPr lang="en-US" sz="1700" dirty="0"/>
          </a:p>
        </p:txBody>
      </p:sp>
      <p:sp>
        <p:nvSpPr>
          <p:cNvPr id="7" name="Text 5"/>
          <p:cNvSpPr txBox="1"/>
          <p:nvPr/>
        </p:nvSpPr>
        <p:spPr>
          <a:xfrm>
            <a:off x="5943600" y="4800600"/>
            <a:ext cx="2743200" cy="274320"/>
          </a:xfrm>
          <a:prstGeom prst="rect">
            <a:avLst/>
          </a:prstGeom>
          <a:noFill/>
          <a:ln/>
        </p:spPr>
        <p:txBody>
          <a:bodyPr wrap="square" lIns="0" tIns="0" rIns="0" bIns="0" rtlCol="0" anchor="ctr"/>
          <a:lstStyle/>
          <a:p>
            <a:pPr marL="0" indent="0" algn="r">
              <a:buNone/>
            </a:pPr>
            <a:r>
              <a:rPr lang="en-US" sz="1000" dirty="0">
                <a:solidFill>
                  <a:schemeClr val="accent4"/>
                </a:solidFill>
              </a:rPr>
              <a:t>Member 2   |   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chemeClr val="bg2"/>
        </a:solidFill>
        <a:effectLst/>
      </p:bgPr>
    </p:bg>
    <p:spTree>
      <p:nvGrpSpPr>
        <p:cNvPr id="1" name=""/>
        <p:cNvGrpSpPr/>
        <p:nvPr/>
      </p:nvGrpSpPr>
      <p:grpSpPr>
        <a:xfrm>
          <a:off x="0" y="0"/>
          <a:ext cx="0" cy="0"/>
          <a:chOff x="0" y="0"/>
          <a:chExt cx="0" cy="0"/>
        </a:xfrm>
      </p:grpSpPr>
      <p:sp>
        <p:nvSpPr>
          <p:cNvPr id="2" name="Header band"/>
          <p:cNvSpPr/>
          <p:nvPr/>
        </p:nvSpPr>
        <p:spPr>
          <a:xfrm>
            <a:off x="0" y="0"/>
            <a:ext cx="9144000" cy="914400"/>
          </a:xfrm>
          <a:prstGeom prst="rect">
            <a:avLst/>
          </a:prstGeom>
          <a:solidFill>
            <a:schemeClr val="tx2"/>
          </a:solidFill>
          <a:ln/>
        </p:spPr>
      </p:sp>
      <p:sp>
        <p:nvSpPr>
          <p:cNvPr id="3" name="Text 1"/>
          <p:cNvSpPr txBox="1"/>
          <p:nvPr/>
        </p:nvSpPr>
        <p:spPr>
          <a:xfrm>
            <a:off x="457200" y="91440"/>
            <a:ext cx="8229600" cy="731520"/>
          </a:xfrm>
          <a:prstGeom prst="rect">
            <a:avLst/>
          </a:prstGeom>
          <a:noFill/>
          <a:ln/>
        </p:spPr>
        <p:txBody>
          <a:bodyPr wrap="square" lIns="0" tIns="0" rIns="0" bIns="0" rtlCol="0" anchor="ctr"/>
          <a:lstStyle/>
          <a:p>
            <a:pPr marL="0" indent="0">
              <a:buNone/>
            </a:pPr>
            <a:r>
              <a:rPr lang="en-US" sz="2600" b="1" dirty="0">
                <a:solidFill>
                  <a:schemeClr val="bg1"/>
                </a:solidFill>
              </a:rPr>
              <a:t>Code: Encryption</a:t>
            </a:r>
            <a:endParaRPr lang="en-US" sz="2600" dirty="0"/>
          </a:p>
        </p:txBody>
      </p:sp>
      <p:sp>
        <p:nvSpPr>
          <p:cNvPr id="4" name="Code panel"/>
          <p:cNvSpPr/>
          <p:nvPr/>
        </p:nvSpPr>
        <p:spPr>
          <a:xfrm>
            <a:off x="457200" y="1143000"/>
            <a:ext cx="5120640" cy="3429000"/>
          </a:xfrm>
          <a:prstGeom prst="roundRect">
            <a:avLst>
              <a:gd name="adj" fmla="val 2133"/>
            </a:avLst>
          </a:prstGeom>
          <a:solidFill>
            <a:schemeClr val="tx2"/>
          </a:solidFill>
          <a:ln/>
        </p:spPr>
      </p:sp>
      <p:sp>
        <p:nvSpPr>
          <p:cNvPr id="5" name="Text 3"/>
          <p:cNvSpPr txBox="1"/>
          <p:nvPr/>
        </p:nvSpPr>
        <p:spPr>
          <a:xfrm>
            <a:off x="640080" y="1234440"/>
            <a:ext cx="4754880" cy="3246120"/>
          </a:xfrm>
          <a:prstGeom prst="rect">
            <a:avLst/>
          </a:prstGeom>
          <a:noFill/>
          <a:ln/>
        </p:spPr>
        <p:txBody>
          <a:bodyPr wrap="square" lIns="0" tIns="0" rIns="0" bIns="0" rtlCol="0" anchor="t"/>
          <a:lstStyle/>
          <a:p>
            <a:pPr marL="0" indent="0">
              <a:buNone/>
            </a:pPr>
            <a:r>
              <a:rPr lang="en-US" sz="1300" dirty="0">
                <a:solidFill>
                  <a:schemeClr val="bg2"/>
                </a:solidFill>
                <a:latin typeface="Consolas" pitchFamily="34" charset="0"/>
                <a:ea typeface="Consolas" pitchFamily="34" charset="-122"/>
                <a:cs typeface="Consolas" pitchFamily="34" charset="-120"/>
              </a:rPr>
              <a:t># Step 6: Take message from user</a:t>
            </a:r>
            <a:endParaRPr lang="en-US" sz="1300" dirty="0"/>
          </a:p>
          <a:p>
            <a:pPr marL="0" indent="0">
              <a:buNone/>
            </a:pPr>
            <a:r>
              <a:rPr lang="en-US" sz="1300" dirty="0">
                <a:solidFill>
                  <a:schemeClr val="bg2"/>
                </a:solidFill>
                <a:latin typeface="Consolas" pitchFamily="34" charset="0"/>
                <a:ea typeface="Consolas" pitchFamily="34" charset="-122"/>
                <a:cs typeface="Consolas" pitchFamily="34" charset="-120"/>
              </a:rPr>
              <a:t>message = input("Enter message: ")</a:t>
            </a:r>
            <a:endParaRPr lang="en-US" sz="1300" dirty="0"/>
          </a:p>
          <a:p>
            <a:pPr marL="0" indent="0">
              <a:buNone/>
            </a:pPr>
            <a:endParaRPr lang="en-US" sz="1300" dirty="0"/>
          </a:p>
          <a:p>
            <a:pPr marL="0" indent="0">
              <a:buNone/>
            </a:pPr>
            <a:r>
              <a:rPr lang="en-US" sz="1300" dirty="0">
                <a:solidFill>
                  <a:schemeClr val="bg2"/>
                </a:solidFill>
                <a:latin typeface="Consolas" pitchFamily="34" charset="0"/>
                <a:ea typeface="Consolas" pitchFamily="34" charset="-122"/>
                <a:cs typeface="Consolas" pitchFamily="34" charset="-120"/>
              </a:rPr>
              <a:t># Step 7: Encryption</a:t>
            </a:r>
            <a:endParaRPr lang="en-US" sz="1300" dirty="0"/>
          </a:p>
          <a:p>
            <a:pPr marL="0" indent="0">
              <a:buNone/>
            </a:pPr>
            <a:r>
              <a:rPr lang="en-US" sz="1300" dirty="0">
                <a:solidFill>
                  <a:schemeClr val="bg2"/>
                </a:solidFill>
                <a:latin typeface="Consolas" pitchFamily="34" charset="0"/>
                <a:ea typeface="Consolas" pitchFamily="34" charset="-122"/>
                <a:cs typeface="Consolas" pitchFamily="34" charset="-120"/>
              </a:rPr>
              <a:t>encrypted = []</a:t>
            </a:r>
            <a:endParaRPr lang="en-US" sz="1300" dirty="0"/>
          </a:p>
          <a:p>
            <a:pPr marL="0" indent="0">
              <a:buNone/>
            </a:pPr>
            <a:endParaRPr lang="en-US" sz="1300" dirty="0"/>
          </a:p>
          <a:p>
            <a:pPr marL="0" indent="0">
              <a:buNone/>
            </a:pPr>
            <a:r>
              <a:rPr lang="en-US" sz="1300" dirty="0">
                <a:solidFill>
                  <a:schemeClr val="bg2"/>
                </a:solidFill>
                <a:latin typeface="Consolas" pitchFamily="34" charset="0"/>
                <a:ea typeface="Consolas" pitchFamily="34" charset="-122"/>
                <a:cs typeface="Consolas" pitchFamily="34" charset="-120"/>
              </a:rPr>
              <a:t>for ch in message:</a:t>
            </a:r>
            <a:endParaRPr lang="en-US" sz="1300" dirty="0"/>
          </a:p>
          <a:p>
            <a:pPr marL="0" indent="0">
              <a:buNone/>
            </a:pPr>
            <a:r>
              <a:rPr lang="en-US" sz="1300" dirty="0">
                <a:solidFill>
                  <a:schemeClr val="bg2"/>
                </a:solidFill>
                <a:latin typeface="Consolas" pitchFamily="34" charset="0"/>
                <a:ea typeface="Consolas" pitchFamily="34" charset="-122"/>
                <a:cs typeface="Consolas" pitchFamily="34" charset="-120"/>
              </a:rPr>
              <a:t>    m = ord(ch)</a:t>
            </a:r>
            <a:endParaRPr lang="en-US" sz="1300" dirty="0"/>
          </a:p>
          <a:p>
            <a:pPr marL="0" indent="0">
              <a:buNone/>
            </a:pPr>
            <a:r>
              <a:rPr lang="en-US" sz="1300" dirty="0">
                <a:solidFill>
                  <a:schemeClr val="bg2"/>
                </a:solidFill>
                <a:latin typeface="Consolas" pitchFamily="34" charset="0"/>
                <a:ea typeface="Consolas" pitchFamily="34" charset="-122"/>
                <a:cs typeface="Consolas" pitchFamily="34" charset="-120"/>
              </a:rPr>
              <a:t>    c = pow(m, e, n)</a:t>
            </a:r>
            <a:endParaRPr lang="en-US" sz="1300" dirty="0"/>
          </a:p>
          <a:p>
            <a:pPr marL="0" indent="0">
              <a:buNone/>
            </a:pPr>
            <a:r>
              <a:rPr lang="en-US" sz="1300" dirty="0">
                <a:solidFill>
                  <a:schemeClr val="bg2"/>
                </a:solidFill>
                <a:latin typeface="Consolas" pitchFamily="34" charset="0"/>
                <a:ea typeface="Consolas" pitchFamily="34" charset="-122"/>
                <a:cs typeface="Consolas" pitchFamily="34" charset="-120"/>
              </a:rPr>
              <a:t>    encrypted.append(c)</a:t>
            </a:r>
            <a:endParaRPr lang="en-US" sz="1300" dirty="0"/>
          </a:p>
          <a:p>
            <a:pPr marL="0" indent="0">
              <a:buNone/>
            </a:pPr>
            <a:endParaRPr lang="en-US" sz="1300" dirty="0"/>
          </a:p>
          <a:p>
            <a:pPr marL="0" indent="0">
              <a:buNone/>
            </a:pPr>
            <a:r>
              <a:rPr lang="en-US" sz="1300" dirty="0">
                <a:solidFill>
                  <a:schemeClr val="bg2"/>
                </a:solidFill>
                <a:latin typeface="Consolas" pitchFamily="34" charset="0"/>
                <a:ea typeface="Consolas" pitchFamily="34" charset="-122"/>
                <a:cs typeface="Consolas" pitchFamily="34" charset="-120"/>
              </a:rPr>
              <a:t>print("Encrypted message =", encrypted)</a:t>
            </a:r>
            <a:endParaRPr lang="en-US" sz="1300" dirty="0"/>
          </a:p>
        </p:txBody>
      </p:sp>
      <p:sp>
        <p:nvSpPr>
          <p:cNvPr id="6" name="Text 4"/>
          <p:cNvSpPr txBox="1"/>
          <p:nvPr/>
        </p:nvSpPr>
        <p:spPr>
          <a:xfrm>
            <a:off x="5760720" y="1280160"/>
            <a:ext cx="3017520" cy="3291840"/>
          </a:xfrm>
          <a:prstGeom prst="rect">
            <a:avLst/>
          </a:prstGeom>
          <a:noFill/>
          <a:ln/>
        </p:spPr>
        <p:txBody>
          <a:bodyPr wrap="square" rtlCol="0" anchor="t"/>
          <a:lstStyle/>
          <a:p>
            <a:pPr marL="342900" indent="-342900">
              <a:spcAft>
                <a:spcPts val="1400"/>
              </a:spcAft>
              <a:buSzPct val="100000"/>
              <a:buChar char="•"/>
            </a:pPr>
            <a:r>
              <a:rPr lang="en-US" sz="1700" dirty="0">
                <a:solidFill>
                  <a:schemeClr val="tx1"/>
                </a:solidFill>
              </a:rPr>
              <a:t>Take message from user</a:t>
            </a:r>
            <a:endParaRPr lang="en-US" sz="1700" dirty="0"/>
          </a:p>
          <a:p>
            <a:pPr marL="342900" indent="-342900">
              <a:spcAft>
                <a:spcPts val="1400"/>
              </a:spcAft>
              <a:buSzPct val="100000"/>
              <a:buChar char="•"/>
            </a:pPr>
            <a:r>
              <a:rPr lang="en-US" sz="1700" dirty="0">
                <a:solidFill>
                  <a:schemeClr val="tx1"/>
                </a:solidFill>
              </a:rPr>
              <a:t>ord(ch): character to ASCII</a:t>
            </a:r>
            <a:endParaRPr lang="en-US" sz="1700" dirty="0"/>
          </a:p>
          <a:p>
            <a:pPr marL="342900" indent="-342900">
              <a:spcAft>
                <a:spcPts val="1400"/>
              </a:spcAft>
              <a:buSzPct val="100000"/>
              <a:buChar char="•"/>
            </a:pPr>
            <a:r>
              <a:rPr lang="en-US" sz="1700" dirty="0">
                <a:solidFill>
                  <a:schemeClr val="tx1"/>
                </a:solidFill>
              </a:rPr>
              <a:t>pow(m, e, n) encrypts</a:t>
            </a:r>
            <a:endParaRPr lang="en-US" sz="1700" dirty="0"/>
          </a:p>
          <a:p>
            <a:pPr marL="342900" indent="-342900">
              <a:spcAft>
                <a:spcPts val="1400"/>
              </a:spcAft>
              <a:buSzPct val="100000"/>
              <a:buChar char="•"/>
            </a:pPr>
            <a:r>
              <a:rPr lang="en-US" sz="1700" dirty="0">
                <a:solidFill>
                  <a:schemeClr val="tx1"/>
                </a:solidFill>
              </a:rPr>
              <a:t>Store in a list</a:t>
            </a:r>
            <a:endParaRPr lang="en-US" sz="1700" dirty="0"/>
          </a:p>
        </p:txBody>
      </p:sp>
      <p:sp>
        <p:nvSpPr>
          <p:cNvPr id="7" name="Text 5"/>
          <p:cNvSpPr txBox="1"/>
          <p:nvPr/>
        </p:nvSpPr>
        <p:spPr>
          <a:xfrm>
            <a:off x="5943600" y="4800600"/>
            <a:ext cx="2743200" cy="274320"/>
          </a:xfrm>
          <a:prstGeom prst="rect">
            <a:avLst/>
          </a:prstGeom>
          <a:noFill/>
          <a:ln/>
        </p:spPr>
        <p:txBody>
          <a:bodyPr wrap="square" lIns="0" tIns="0" rIns="0" bIns="0" rtlCol="0" anchor="ctr"/>
          <a:lstStyle/>
          <a:p>
            <a:pPr marL="0" indent="0" algn="r">
              <a:buNone/>
            </a:pPr>
            <a:r>
              <a:rPr lang="en-US" sz="1000" dirty="0">
                <a:solidFill>
                  <a:schemeClr val="accent4"/>
                </a:solidFill>
              </a:rPr>
              <a:t>Member 3   |   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chemeClr val="bg2"/>
        </a:solidFill>
        <a:effectLst/>
      </p:bgPr>
    </p:bg>
    <p:spTree>
      <p:nvGrpSpPr>
        <p:cNvPr id="1" name=""/>
        <p:cNvGrpSpPr/>
        <p:nvPr/>
      </p:nvGrpSpPr>
      <p:grpSpPr>
        <a:xfrm>
          <a:off x="0" y="0"/>
          <a:ext cx="0" cy="0"/>
          <a:chOff x="0" y="0"/>
          <a:chExt cx="0" cy="0"/>
        </a:xfrm>
      </p:grpSpPr>
      <p:sp>
        <p:nvSpPr>
          <p:cNvPr id="2" name="Header band"/>
          <p:cNvSpPr/>
          <p:nvPr/>
        </p:nvSpPr>
        <p:spPr>
          <a:xfrm>
            <a:off x="0" y="0"/>
            <a:ext cx="9144000" cy="914400"/>
          </a:xfrm>
          <a:prstGeom prst="rect">
            <a:avLst/>
          </a:prstGeom>
          <a:solidFill>
            <a:schemeClr val="tx2"/>
          </a:solidFill>
          <a:ln/>
        </p:spPr>
      </p:sp>
      <p:sp>
        <p:nvSpPr>
          <p:cNvPr id="3" name="Text 1"/>
          <p:cNvSpPr txBox="1"/>
          <p:nvPr/>
        </p:nvSpPr>
        <p:spPr>
          <a:xfrm>
            <a:off x="457200" y="91440"/>
            <a:ext cx="8229600" cy="731520"/>
          </a:xfrm>
          <a:prstGeom prst="rect">
            <a:avLst/>
          </a:prstGeom>
          <a:noFill/>
          <a:ln/>
        </p:spPr>
        <p:txBody>
          <a:bodyPr wrap="square" lIns="0" tIns="0" rIns="0" bIns="0" rtlCol="0" anchor="ctr"/>
          <a:lstStyle/>
          <a:p>
            <a:pPr marL="0" indent="0">
              <a:buNone/>
            </a:pPr>
            <a:r>
              <a:rPr lang="en-US" sz="2600" b="1" dirty="0">
                <a:solidFill>
                  <a:schemeClr val="bg1"/>
                </a:solidFill>
              </a:rPr>
              <a:t>Code: Decryption</a:t>
            </a:r>
            <a:endParaRPr lang="en-US" sz="2600" dirty="0"/>
          </a:p>
        </p:txBody>
      </p:sp>
      <p:sp>
        <p:nvSpPr>
          <p:cNvPr id="4" name="Code panel"/>
          <p:cNvSpPr/>
          <p:nvPr/>
        </p:nvSpPr>
        <p:spPr>
          <a:xfrm>
            <a:off x="457200" y="1143000"/>
            <a:ext cx="5120640" cy="3429000"/>
          </a:xfrm>
          <a:prstGeom prst="roundRect">
            <a:avLst>
              <a:gd name="adj" fmla="val 2133"/>
            </a:avLst>
          </a:prstGeom>
          <a:solidFill>
            <a:schemeClr val="tx2"/>
          </a:solidFill>
          <a:ln/>
        </p:spPr>
      </p:sp>
      <p:sp>
        <p:nvSpPr>
          <p:cNvPr id="5" name="Text 3"/>
          <p:cNvSpPr txBox="1"/>
          <p:nvPr/>
        </p:nvSpPr>
        <p:spPr>
          <a:xfrm>
            <a:off x="640080" y="1234440"/>
            <a:ext cx="4754880" cy="3246120"/>
          </a:xfrm>
          <a:prstGeom prst="rect">
            <a:avLst/>
          </a:prstGeom>
          <a:noFill/>
          <a:ln/>
        </p:spPr>
        <p:txBody>
          <a:bodyPr wrap="square" lIns="0" tIns="0" rIns="0" bIns="0" rtlCol="0" anchor="t"/>
          <a:lstStyle/>
          <a:p>
            <a:pPr marL="0" indent="0">
              <a:buNone/>
            </a:pPr>
            <a:r>
              <a:rPr lang="en-US" sz="1400" dirty="0">
                <a:solidFill>
                  <a:schemeClr val="bg2"/>
                </a:solidFill>
                <a:latin typeface="Consolas" pitchFamily="34" charset="0"/>
                <a:ea typeface="Consolas" pitchFamily="34" charset="-122"/>
                <a:cs typeface="Consolas" pitchFamily="34" charset="-120"/>
              </a:rPr>
              <a:t># Step 8: Decryption</a:t>
            </a:r>
            <a:endParaRPr lang="en-US" sz="1400" dirty="0"/>
          </a:p>
          <a:p>
            <a:pPr marL="0" indent="0">
              <a:buNone/>
            </a:pPr>
            <a:r>
              <a:rPr lang="en-US" sz="1400" dirty="0">
                <a:solidFill>
                  <a:schemeClr val="bg2"/>
                </a:solidFill>
                <a:latin typeface="Consolas" pitchFamily="34" charset="0"/>
                <a:ea typeface="Consolas" pitchFamily="34" charset="-122"/>
                <a:cs typeface="Consolas" pitchFamily="34" charset="-120"/>
              </a:rPr>
              <a:t>decrypted = ""</a:t>
            </a:r>
            <a:endParaRPr lang="en-US" sz="1400" dirty="0"/>
          </a:p>
          <a:p>
            <a:pPr marL="0" indent="0">
              <a:buNone/>
            </a:pPr>
            <a:endParaRPr lang="en-US" sz="1400" dirty="0"/>
          </a:p>
          <a:p>
            <a:pPr marL="0" indent="0">
              <a:buNone/>
            </a:pPr>
            <a:r>
              <a:rPr lang="en-US" sz="1400" dirty="0">
                <a:solidFill>
                  <a:schemeClr val="bg2"/>
                </a:solidFill>
                <a:latin typeface="Consolas" pitchFamily="34" charset="0"/>
                <a:ea typeface="Consolas" pitchFamily="34" charset="-122"/>
                <a:cs typeface="Consolas" pitchFamily="34" charset="-120"/>
              </a:rPr>
              <a:t>for c in encrypted:</a:t>
            </a:r>
            <a:endParaRPr lang="en-US" sz="1400" dirty="0"/>
          </a:p>
          <a:p>
            <a:pPr marL="0" indent="0">
              <a:buNone/>
            </a:pPr>
            <a:r>
              <a:rPr lang="en-US" sz="1400" dirty="0">
                <a:solidFill>
                  <a:schemeClr val="bg2"/>
                </a:solidFill>
                <a:latin typeface="Consolas" pitchFamily="34" charset="0"/>
                <a:ea typeface="Consolas" pitchFamily="34" charset="-122"/>
                <a:cs typeface="Consolas" pitchFamily="34" charset="-120"/>
              </a:rPr>
              <a:t>    m = pow(c, d, n)</a:t>
            </a:r>
            <a:endParaRPr lang="en-US" sz="1400" dirty="0"/>
          </a:p>
          <a:p>
            <a:pPr marL="0" indent="0">
              <a:buNone/>
            </a:pPr>
            <a:r>
              <a:rPr lang="en-US" sz="1400" dirty="0">
                <a:solidFill>
                  <a:schemeClr val="bg2"/>
                </a:solidFill>
                <a:latin typeface="Consolas" pitchFamily="34" charset="0"/>
                <a:ea typeface="Consolas" pitchFamily="34" charset="-122"/>
                <a:cs typeface="Consolas" pitchFamily="34" charset="-120"/>
              </a:rPr>
              <a:t>    decrypted = decrypted + chr(m)</a:t>
            </a:r>
            <a:endParaRPr lang="en-US" sz="1400" dirty="0"/>
          </a:p>
          <a:p>
            <a:pPr marL="0" indent="0">
              <a:buNone/>
            </a:pPr>
            <a:endParaRPr lang="en-US" sz="1400" dirty="0"/>
          </a:p>
          <a:p>
            <a:pPr marL="0" indent="0">
              <a:buNone/>
            </a:pPr>
            <a:r>
              <a:rPr lang="en-US" sz="1400" dirty="0">
                <a:solidFill>
                  <a:schemeClr val="bg2"/>
                </a:solidFill>
                <a:latin typeface="Consolas" pitchFamily="34" charset="0"/>
                <a:ea typeface="Consolas" pitchFamily="34" charset="-122"/>
                <a:cs typeface="Consolas" pitchFamily="34" charset="-120"/>
              </a:rPr>
              <a:t>print("Decrypted message =", decrypted)</a:t>
            </a:r>
            <a:endParaRPr lang="en-US" sz="1400" dirty="0"/>
          </a:p>
        </p:txBody>
      </p:sp>
      <p:sp>
        <p:nvSpPr>
          <p:cNvPr id="6" name="Text 4"/>
          <p:cNvSpPr txBox="1"/>
          <p:nvPr/>
        </p:nvSpPr>
        <p:spPr>
          <a:xfrm>
            <a:off x="5760720" y="1280160"/>
            <a:ext cx="3017520" cy="3291840"/>
          </a:xfrm>
          <a:prstGeom prst="rect">
            <a:avLst/>
          </a:prstGeom>
          <a:noFill/>
          <a:ln/>
        </p:spPr>
        <p:txBody>
          <a:bodyPr wrap="square" rtlCol="0" anchor="t"/>
          <a:lstStyle/>
          <a:p>
            <a:pPr marL="342900" indent="-342900">
              <a:spcAft>
                <a:spcPts val="1400"/>
              </a:spcAft>
              <a:buSzPct val="100000"/>
              <a:buChar char="•"/>
            </a:pPr>
            <a:r>
              <a:rPr lang="en-US" sz="1700" dirty="0">
                <a:solidFill>
                  <a:schemeClr val="tx1"/>
                </a:solidFill>
              </a:rPr>
              <a:t>Take each encrypted number</a:t>
            </a:r>
            <a:endParaRPr lang="en-US" sz="1700" dirty="0"/>
          </a:p>
          <a:p>
            <a:pPr marL="342900" indent="-342900">
              <a:spcAft>
                <a:spcPts val="1400"/>
              </a:spcAft>
              <a:buSzPct val="100000"/>
              <a:buChar char="•"/>
            </a:pPr>
            <a:r>
              <a:rPr lang="en-US" sz="1700" dirty="0">
                <a:solidFill>
                  <a:schemeClr val="tx1"/>
                </a:solidFill>
              </a:rPr>
              <a:t>pow(c, d, n) decrypts</a:t>
            </a:r>
            <a:endParaRPr lang="en-US" sz="1700" dirty="0"/>
          </a:p>
          <a:p>
            <a:pPr marL="342900" indent="-342900">
              <a:spcAft>
                <a:spcPts val="1400"/>
              </a:spcAft>
              <a:buSzPct val="100000"/>
              <a:buChar char="•"/>
            </a:pPr>
            <a:r>
              <a:rPr lang="en-US" sz="1700" dirty="0">
                <a:solidFill>
                  <a:schemeClr val="tx1"/>
                </a:solidFill>
              </a:rPr>
              <a:t>chr(m): ASCII to character</a:t>
            </a:r>
            <a:endParaRPr lang="en-US" sz="1700" dirty="0"/>
          </a:p>
          <a:p>
            <a:pPr marL="342900" indent="-342900">
              <a:spcAft>
                <a:spcPts val="1400"/>
              </a:spcAft>
              <a:buSzPct val="100000"/>
              <a:buChar char="•"/>
            </a:pPr>
            <a:r>
              <a:rPr lang="en-US" sz="1700" dirty="0">
                <a:solidFill>
                  <a:schemeClr val="tx1"/>
                </a:solidFill>
              </a:rPr>
              <a:t>Join characters into text</a:t>
            </a:r>
            <a:endParaRPr lang="en-US" sz="1700" dirty="0"/>
          </a:p>
        </p:txBody>
      </p:sp>
      <p:sp>
        <p:nvSpPr>
          <p:cNvPr id="7" name="Text 5"/>
          <p:cNvSpPr txBox="1"/>
          <p:nvPr/>
        </p:nvSpPr>
        <p:spPr>
          <a:xfrm>
            <a:off x="5943600" y="4800600"/>
            <a:ext cx="2743200" cy="274320"/>
          </a:xfrm>
          <a:prstGeom prst="rect">
            <a:avLst/>
          </a:prstGeom>
          <a:noFill/>
          <a:ln/>
        </p:spPr>
        <p:txBody>
          <a:bodyPr wrap="square" lIns="0" tIns="0" rIns="0" bIns="0" rtlCol="0" anchor="ctr"/>
          <a:lstStyle/>
          <a:p>
            <a:pPr marL="0" indent="0" algn="r">
              <a:buNone/>
            </a:pPr>
            <a:r>
              <a:rPr lang="en-US" sz="1000" dirty="0">
                <a:solidFill>
                  <a:schemeClr val="accent4"/>
                </a:solidFill>
              </a:rPr>
              <a:t>Member 3   |   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chemeClr val="bg2"/>
        </a:solidFill>
        <a:effectLst/>
      </p:bgPr>
    </p:bg>
    <p:spTree>
      <p:nvGrpSpPr>
        <p:cNvPr id="1" name=""/>
        <p:cNvGrpSpPr/>
        <p:nvPr/>
      </p:nvGrpSpPr>
      <p:grpSpPr>
        <a:xfrm>
          <a:off x="0" y="0"/>
          <a:ext cx="0" cy="0"/>
          <a:chOff x="0" y="0"/>
          <a:chExt cx="0" cy="0"/>
        </a:xfrm>
      </p:grpSpPr>
      <p:sp>
        <p:nvSpPr>
          <p:cNvPr id="2" name="Header band"/>
          <p:cNvSpPr/>
          <p:nvPr/>
        </p:nvSpPr>
        <p:spPr>
          <a:xfrm>
            <a:off x="0" y="0"/>
            <a:ext cx="9144000" cy="914400"/>
          </a:xfrm>
          <a:prstGeom prst="rect">
            <a:avLst/>
          </a:prstGeom>
          <a:solidFill>
            <a:schemeClr val="tx2"/>
          </a:solidFill>
          <a:ln/>
        </p:spPr>
      </p:sp>
      <p:sp>
        <p:nvSpPr>
          <p:cNvPr id="3" name="Text 1"/>
          <p:cNvSpPr txBox="1"/>
          <p:nvPr/>
        </p:nvSpPr>
        <p:spPr>
          <a:xfrm>
            <a:off x="457200" y="91440"/>
            <a:ext cx="8229600" cy="731520"/>
          </a:xfrm>
          <a:prstGeom prst="rect">
            <a:avLst/>
          </a:prstGeom>
          <a:noFill/>
          <a:ln/>
        </p:spPr>
        <p:txBody>
          <a:bodyPr wrap="square" lIns="0" tIns="0" rIns="0" bIns="0" rtlCol="0" anchor="ctr"/>
          <a:lstStyle/>
          <a:p>
            <a:pPr marL="0" indent="0">
              <a:buNone/>
            </a:pPr>
            <a:r>
              <a:rPr lang="en-US" sz="2600" b="1" dirty="0">
                <a:solidFill>
                  <a:schemeClr val="bg1"/>
                </a:solidFill>
              </a:rPr>
              <a:t>Modular Exponentiation: pow()</a:t>
            </a:r>
            <a:endParaRPr lang="en-US" sz="2600" dirty="0"/>
          </a:p>
        </p:txBody>
      </p:sp>
      <p:sp>
        <p:nvSpPr>
          <p:cNvPr id="4" name="Text 2"/>
          <p:cNvSpPr txBox="1"/>
          <p:nvPr/>
        </p:nvSpPr>
        <p:spPr>
          <a:xfrm>
            <a:off x="548640" y="1188720"/>
            <a:ext cx="8046720" cy="3383280"/>
          </a:xfrm>
          <a:prstGeom prst="rect">
            <a:avLst/>
          </a:prstGeom>
          <a:noFill/>
          <a:ln/>
        </p:spPr>
        <p:txBody>
          <a:bodyPr wrap="square" rtlCol="0" anchor="t"/>
          <a:lstStyle/>
          <a:p>
            <a:pPr marL="342900" indent="-342900">
              <a:spcAft>
                <a:spcPts val="1200"/>
              </a:spcAft>
              <a:buSzPct val="100000"/>
              <a:buChar char="•"/>
            </a:pPr>
            <a:r>
              <a:rPr lang="en-US" sz="2000" dirty="0">
                <a:solidFill>
                  <a:schemeClr val="tx1"/>
                </a:solidFill>
              </a:rPr>
              <a:t>pow(base, exponent, mod) = base^exponent mod n</a:t>
            </a:r>
            <a:endParaRPr lang="en-US" sz="2000" dirty="0"/>
          </a:p>
          <a:p>
            <a:pPr marL="342900" indent="-342900">
              <a:spcAft>
                <a:spcPts val="1200"/>
              </a:spcAft>
              <a:buSzPct val="100000"/>
              <a:buChar char="•"/>
            </a:pPr>
            <a:r>
              <a:rPr lang="en-US" sz="2000" dirty="0">
                <a:solidFill>
                  <a:schemeClr val="tx1"/>
                </a:solidFill>
              </a:rPr>
              <a:t>Encryption: pow(m, e, n)</a:t>
            </a:r>
            <a:endParaRPr lang="en-US" sz="2000" dirty="0"/>
          </a:p>
          <a:p>
            <a:pPr marL="342900" indent="-342900">
              <a:spcAft>
                <a:spcPts val="1200"/>
              </a:spcAft>
              <a:buSzPct val="100000"/>
              <a:buChar char="•"/>
            </a:pPr>
            <a:r>
              <a:rPr lang="en-US" sz="2000" dirty="0">
                <a:solidFill>
                  <a:schemeClr val="tx1"/>
                </a:solidFill>
              </a:rPr>
              <a:t>Decryption: pow(c, d, n)</a:t>
            </a:r>
            <a:endParaRPr lang="en-US" sz="2000" dirty="0"/>
          </a:p>
          <a:p>
            <a:pPr marL="342900" indent="-342900">
              <a:spcAft>
                <a:spcPts val="1200"/>
              </a:spcAft>
              <a:buSzPct val="100000"/>
              <a:buChar char="•"/>
            </a:pPr>
            <a:r>
              <a:rPr lang="en-US" sz="2000" dirty="0">
                <a:solidFill>
                  <a:schemeClr val="tx1"/>
                </a:solidFill>
              </a:rPr>
              <a:t>Python computes it efficiently, even for large numbers</a:t>
            </a:r>
            <a:endParaRPr lang="en-US" sz="2000" dirty="0"/>
          </a:p>
          <a:p>
            <a:pPr marL="342900" indent="-342900">
              <a:spcAft>
                <a:spcPts val="1200"/>
              </a:spcAft>
              <a:buSzPct val="100000"/>
              <a:buChar char="•"/>
            </a:pPr>
            <a:r>
              <a:rPr lang="en-US" sz="2000" dirty="0">
                <a:solidFill>
                  <a:schemeClr val="tx1"/>
                </a:solidFill>
              </a:rPr>
              <a:t>Example: pow(104, 3, 391) = 348</a:t>
            </a:r>
            <a:endParaRPr lang="en-US" sz="2000" dirty="0"/>
          </a:p>
        </p:txBody>
      </p:sp>
      <p:sp>
        <p:nvSpPr>
          <p:cNvPr id="5" name="Text 3"/>
          <p:cNvSpPr txBox="1"/>
          <p:nvPr/>
        </p:nvSpPr>
        <p:spPr>
          <a:xfrm>
            <a:off x="5943600" y="4800600"/>
            <a:ext cx="2743200" cy="274320"/>
          </a:xfrm>
          <a:prstGeom prst="rect">
            <a:avLst/>
          </a:prstGeom>
          <a:noFill/>
          <a:ln/>
        </p:spPr>
        <p:txBody>
          <a:bodyPr wrap="square" lIns="0" tIns="0" rIns="0" bIns="0" rtlCol="0" anchor="ctr"/>
          <a:lstStyle/>
          <a:p>
            <a:pPr marL="0" indent="0" algn="r">
              <a:buNone/>
            </a:pPr>
            <a:r>
              <a:rPr lang="en-US" sz="1000" dirty="0">
                <a:solidFill>
                  <a:schemeClr val="accent4"/>
                </a:solidFill>
              </a:rPr>
              <a:t>Member 3   |   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chemeClr val="bg2"/>
        </a:solidFill>
        <a:effectLst/>
      </p:bgPr>
    </p:bg>
    <p:spTree>
      <p:nvGrpSpPr>
        <p:cNvPr id="1" name=""/>
        <p:cNvGrpSpPr/>
        <p:nvPr/>
      </p:nvGrpSpPr>
      <p:grpSpPr>
        <a:xfrm>
          <a:off x="0" y="0"/>
          <a:ext cx="0" cy="0"/>
          <a:chOff x="0" y="0"/>
          <a:chExt cx="0" cy="0"/>
        </a:xfrm>
      </p:grpSpPr>
      <p:sp>
        <p:nvSpPr>
          <p:cNvPr id="2" name="Header band"/>
          <p:cNvSpPr/>
          <p:nvPr/>
        </p:nvSpPr>
        <p:spPr>
          <a:xfrm>
            <a:off x="0" y="0"/>
            <a:ext cx="9144000" cy="914400"/>
          </a:xfrm>
          <a:prstGeom prst="rect">
            <a:avLst/>
          </a:prstGeom>
          <a:solidFill>
            <a:schemeClr val="tx2"/>
          </a:solidFill>
          <a:ln/>
        </p:spPr>
      </p:sp>
      <p:sp>
        <p:nvSpPr>
          <p:cNvPr id="3" name="Text 1"/>
          <p:cNvSpPr txBox="1"/>
          <p:nvPr/>
        </p:nvSpPr>
        <p:spPr>
          <a:xfrm>
            <a:off x="457200" y="91440"/>
            <a:ext cx="8229600" cy="731520"/>
          </a:xfrm>
          <a:prstGeom prst="rect">
            <a:avLst/>
          </a:prstGeom>
          <a:noFill/>
          <a:ln/>
        </p:spPr>
        <p:txBody>
          <a:bodyPr wrap="square" lIns="0" tIns="0" rIns="0" bIns="0" rtlCol="0" anchor="ctr"/>
          <a:lstStyle/>
          <a:p>
            <a:pPr marL="0" indent="0">
              <a:buNone/>
            </a:pPr>
            <a:r>
              <a:rPr lang="en-US" sz="2600" b="1" dirty="0">
                <a:solidFill>
                  <a:schemeClr val="bg1"/>
                </a:solidFill>
              </a:rPr>
              <a:t>Actual Program Output</a:t>
            </a:r>
            <a:endParaRPr lang="en-US" sz="2600" dirty="0"/>
          </a:p>
        </p:txBody>
      </p:sp>
      <p:sp>
        <p:nvSpPr>
          <p:cNvPr id="4" name="Code panel"/>
          <p:cNvSpPr/>
          <p:nvPr/>
        </p:nvSpPr>
        <p:spPr>
          <a:xfrm>
            <a:off x="457200" y="1143000"/>
            <a:ext cx="8229600" cy="3429000"/>
          </a:xfrm>
          <a:prstGeom prst="roundRect">
            <a:avLst>
              <a:gd name="adj" fmla="val 2133"/>
            </a:avLst>
          </a:prstGeom>
          <a:solidFill>
            <a:schemeClr val="tx2"/>
          </a:solidFill>
          <a:ln/>
        </p:spPr>
      </p:sp>
      <p:sp>
        <p:nvSpPr>
          <p:cNvPr id="5" name="Text 3"/>
          <p:cNvSpPr txBox="1"/>
          <p:nvPr/>
        </p:nvSpPr>
        <p:spPr>
          <a:xfrm>
            <a:off x="640080" y="1234440"/>
            <a:ext cx="7863840" cy="3246120"/>
          </a:xfrm>
          <a:prstGeom prst="rect">
            <a:avLst/>
          </a:prstGeom>
          <a:noFill/>
          <a:ln/>
        </p:spPr>
        <p:txBody>
          <a:bodyPr wrap="square" lIns="0" tIns="0" rIns="0" bIns="0" rtlCol="0" anchor="t"/>
          <a:lstStyle/>
          <a:p>
            <a:pPr marL="0" indent="0">
              <a:buNone/>
            </a:pPr>
            <a:r>
              <a:rPr lang="en-US" sz="1600" dirty="0">
                <a:solidFill>
                  <a:schemeClr val="bg2"/>
                </a:solidFill>
                <a:latin typeface="Consolas" pitchFamily="34" charset="0"/>
                <a:ea typeface="Consolas" pitchFamily="34" charset="-122"/>
                <a:cs typeface="Consolas" pitchFamily="34" charset="-120"/>
              </a:rPr>
              <a:t>===== RSA ENCRYPTION AND DECRYPTION =====</a:t>
            </a:r>
            <a:endParaRPr lang="en-US" sz="1600" dirty="0"/>
          </a:p>
          <a:p>
            <a:pPr marL="0" indent="0">
              <a:buNone/>
            </a:pPr>
            <a:r>
              <a:rPr lang="en-US" sz="1600" dirty="0">
                <a:solidFill>
                  <a:schemeClr val="bg2"/>
                </a:solidFill>
                <a:latin typeface="Consolas" pitchFamily="34" charset="0"/>
                <a:ea typeface="Consolas" pitchFamily="34" charset="-122"/>
                <a:cs typeface="Consolas" pitchFamily="34" charset="-120"/>
              </a:rPr>
              <a:t>n = 391</a:t>
            </a:r>
            <a:endParaRPr lang="en-US" sz="1600" dirty="0"/>
          </a:p>
          <a:p>
            <a:pPr marL="0" indent="0">
              <a:buNone/>
            </a:pPr>
            <a:r>
              <a:rPr lang="en-US" sz="1600" dirty="0">
                <a:solidFill>
                  <a:schemeClr val="bg2"/>
                </a:solidFill>
                <a:latin typeface="Consolas" pitchFamily="34" charset="0"/>
                <a:ea typeface="Consolas" pitchFamily="34" charset="-122"/>
                <a:cs typeface="Consolas" pitchFamily="34" charset="-120"/>
              </a:rPr>
              <a:t>phi(n) = 352</a:t>
            </a:r>
            <a:endParaRPr lang="en-US" sz="1600" dirty="0"/>
          </a:p>
          <a:p>
            <a:pPr marL="0" indent="0">
              <a:buNone/>
            </a:pPr>
            <a:r>
              <a:rPr lang="en-US" sz="1600" dirty="0">
                <a:solidFill>
                  <a:schemeClr val="bg2"/>
                </a:solidFill>
                <a:latin typeface="Consolas" pitchFamily="34" charset="0"/>
                <a:ea typeface="Consolas" pitchFamily="34" charset="-122"/>
                <a:cs typeface="Consolas" pitchFamily="34" charset="-120"/>
              </a:rPr>
              <a:t>Public Key = (3, 391)</a:t>
            </a:r>
            <a:endParaRPr lang="en-US" sz="1600" dirty="0"/>
          </a:p>
          <a:p>
            <a:pPr marL="0" indent="0">
              <a:buNone/>
            </a:pPr>
            <a:r>
              <a:rPr lang="en-US" sz="1600" dirty="0">
                <a:solidFill>
                  <a:schemeClr val="bg2"/>
                </a:solidFill>
                <a:latin typeface="Consolas" pitchFamily="34" charset="0"/>
                <a:ea typeface="Consolas" pitchFamily="34" charset="-122"/>
                <a:cs typeface="Consolas" pitchFamily="34" charset="-120"/>
              </a:rPr>
              <a:t>Private Key = (235, 391)</a:t>
            </a:r>
            <a:endParaRPr lang="en-US" sz="1600" dirty="0"/>
          </a:p>
          <a:p>
            <a:pPr marL="0" indent="0">
              <a:buNone/>
            </a:pPr>
            <a:r>
              <a:rPr lang="en-US" sz="1600" dirty="0">
                <a:solidFill>
                  <a:schemeClr val="bg2"/>
                </a:solidFill>
                <a:latin typeface="Consolas" pitchFamily="34" charset="0"/>
                <a:ea typeface="Consolas" pitchFamily="34" charset="-122"/>
                <a:cs typeface="Consolas" pitchFamily="34" charset="-120"/>
              </a:rPr>
              <a:t>Enter message: hello</a:t>
            </a:r>
            <a:endParaRPr lang="en-US" sz="1600" dirty="0"/>
          </a:p>
          <a:p>
            <a:pPr marL="0" indent="0">
              <a:buNone/>
            </a:pPr>
            <a:r>
              <a:rPr lang="en-US" sz="1600" dirty="0">
                <a:solidFill>
                  <a:schemeClr val="bg2"/>
                </a:solidFill>
                <a:latin typeface="Consolas" pitchFamily="34" charset="0"/>
                <a:ea typeface="Consolas" pitchFamily="34" charset="-122"/>
                <a:cs typeface="Consolas" pitchFamily="34" charset="-120"/>
              </a:rPr>
              <a:t>Encrypted message = [348, 16, 301, 301, 304]</a:t>
            </a:r>
            <a:endParaRPr lang="en-US" sz="1600" dirty="0"/>
          </a:p>
          <a:p>
            <a:pPr marL="0" indent="0">
              <a:buNone/>
            </a:pPr>
            <a:r>
              <a:rPr lang="en-US" sz="1600" dirty="0">
                <a:solidFill>
                  <a:schemeClr val="bg2"/>
                </a:solidFill>
                <a:latin typeface="Consolas" pitchFamily="34" charset="0"/>
                <a:ea typeface="Consolas" pitchFamily="34" charset="-122"/>
                <a:cs typeface="Consolas" pitchFamily="34" charset="-120"/>
              </a:rPr>
              <a:t>Decrypted message = hello</a:t>
            </a:r>
            <a:endParaRPr lang="en-US" sz="1600" dirty="0"/>
          </a:p>
        </p:txBody>
      </p:sp>
      <p:sp>
        <p:nvSpPr>
          <p:cNvPr id="6" name="Text 4"/>
          <p:cNvSpPr txBox="1"/>
          <p:nvPr/>
        </p:nvSpPr>
        <p:spPr>
          <a:xfrm>
            <a:off x="5943600" y="4800600"/>
            <a:ext cx="2743200" cy="274320"/>
          </a:xfrm>
          <a:prstGeom prst="rect">
            <a:avLst/>
          </a:prstGeom>
          <a:noFill/>
          <a:ln/>
        </p:spPr>
        <p:txBody>
          <a:bodyPr wrap="square" lIns="0" tIns="0" rIns="0" bIns="0" rtlCol="0" anchor="ctr"/>
          <a:lstStyle/>
          <a:p>
            <a:pPr marL="0" indent="0" algn="r">
              <a:buNone/>
            </a:pPr>
            <a:r>
              <a:rPr lang="en-US" sz="1000" dirty="0">
                <a:solidFill>
                  <a:schemeClr val="accent4"/>
                </a:solidFill>
              </a:rPr>
              <a:t>Member 4   |   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chemeClr val="bg2"/>
        </a:solidFill>
        <a:effectLst/>
      </p:bgPr>
    </p:bg>
    <p:spTree>
      <p:nvGrpSpPr>
        <p:cNvPr id="1" name=""/>
        <p:cNvGrpSpPr/>
        <p:nvPr/>
      </p:nvGrpSpPr>
      <p:grpSpPr>
        <a:xfrm>
          <a:off x="0" y="0"/>
          <a:ext cx="0" cy="0"/>
          <a:chOff x="0" y="0"/>
          <a:chExt cx="0" cy="0"/>
        </a:xfrm>
      </p:grpSpPr>
      <p:sp>
        <p:nvSpPr>
          <p:cNvPr id="2" name="Header band"/>
          <p:cNvSpPr/>
          <p:nvPr/>
        </p:nvSpPr>
        <p:spPr>
          <a:xfrm>
            <a:off x="0" y="0"/>
            <a:ext cx="9144000" cy="914400"/>
          </a:xfrm>
          <a:prstGeom prst="rect">
            <a:avLst/>
          </a:prstGeom>
          <a:solidFill>
            <a:schemeClr val="tx2"/>
          </a:solidFill>
          <a:ln/>
        </p:spPr>
      </p:sp>
      <p:sp>
        <p:nvSpPr>
          <p:cNvPr id="3" name="Text 1"/>
          <p:cNvSpPr txBox="1"/>
          <p:nvPr/>
        </p:nvSpPr>
        <p:spPr>
          <a:xfrm>
            <a:off x="457200" y="91440"/>
            <a:ext cx="8229600" cy="731520"/>
          </a:xfrm>
          <a:prstGeom prst="rect">
            <a:avLst/>
          </a:prstGeom>
          <a:noFill/>
          <a:ln/>
        </p:spPr>
        <p:txBody>
          <a:bodyPr wrap="square" lIns="0" tIns="0" rIns="0" bIns="0" rtlCol="0" anchor="ctr"/>
          <a:lstStyle/>
          <a:p>
            <a:pPr marL="0" indent="0">
              <a:buNone/>
            </a:pPr>
            <a:r>
              <a:rPr lang="en-US" sz="2600" b="1" dirty="0">
                <a:solidFill>
                  <a:schemeClr val="bg1"/>
                </a:solidFill>
              </a:rPr>
              <a:t>Applications and Limitations</a:t>
            </a:r>
            <a:endParaRPr lang="en-US" sz="2600" dirty="0"/>
          </a:p>
        </p:txBody>
      </p:sp>
      <p:sp>
        <p:nvSpPr>
          <p:cNvPr id="4" name="Column card 1"/>
          <p:cNvSpPr/>
          <p:nvPr/>
        </p:nvSpPr>
        <p:spPr>
          <a:xfrm>
            <a:off x="457200" y="1143000"/>
            <a:ext cx="4023360" cy="3383280"/>
          </a:xfrm>
          <a:prstGeom prst="roundRect">
            <a:avLst>
              <a:gd name="adj" fmla="val 2162"/>
            </a:avLst>
          </a:prstGeom>
          <a:solidFill>
            <a:schemeClr val="bg1"/>
          </a:solidFill>
          <a:ln w="12700">
            <a:solidFill>
              <a:schemeClr val="accent1"/>
            </a:solidFill>
            <a:prstDash val="solid"/>
          </a:ln>
        </p:spPr>
      </p:sp>
      <p:sp>
        <p:nvSpPr>
          <p:cNvPr id="5" name="Text 3"/>
          <p:cNvSpPr txBox="1"/>
          <p:nvPr/>
        </p:nvSpPr>
        <p:spPr>
          <a:xfrm>
            <a:off x="640080" y="1234440"/>
            <a:ext cx="3657600" cy="411480"/>
          </a:xfrm>
          <a:prstGeom prst="rect">
            <a:avLst/>
          </a:prstGeom>
          <a:noFill/>
          <a:ln/>
        </p:spPr>
        <p:txBody>
          <a:bodyPr wrap="square" lIns="0" tIns="0" rIns="0" bIns="0" rtlCol="0" anchor="ctr"/>
          <a:lstStyle/>
          <a:p>
            <a:pPr marL="0" indent="0">
              <a:buNone/>
            </a:pPr>
            <a:r>
              <a:rPr lang="en-US" sz="2100" b="1" dirty="0">
                <a:solidFill>
                  <a:schemeClr val="accent1"/>
                </a:solidFill>
              </a:rPr>
              <a:t>Applications</a:t>
            </a:r>
            <a:endParaRPr lang="en-US" sz="2100" dirty="0"/>
          </a:p>
        </p:txBody>
      </p:sp>
      <p:sp>
        <p:nvSpPr>
          <p:cNvPr id="6" name="Text 4"/>
          <p:cNvSpPr txBox="1"/>
          <p:nvPr/>
        </p:nvSpPr>
        <p:spPr>
          <a:xfrm>
            <a:off x="640080" y="1783080"/>
            <a:ext cx="3657600" cy="265176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chemeClr val="tx1"/>
                </a:solidFill>
              </a:rPr>
              <a:t>Secure communication</a:t>
            </a:r>
            <a:endParaRPr lang="en-US" sz="1700" dirty="0"/>
          </a:p>
          <a:p>
            <a:pPr marL="342900" indent="-342900">
              <a:spcAft>
                <a:spcPts val="1200"/>
              </a:spcAft>
              <a:buSzPct val="100000"/>
              <a:buChar char="•"/>
            </a:pPr>
            <a:r>
              <a:rPr lang="en-US" sz="1700" dirty="0">
                <a:solidFill>
                  <a:schemeClr val="tx1"/>
                </a:solidFill>
              </a:rPr>
              <a:t>Digital signatures</a:t>
            </a:r>
            <a:endParaRPr lang="en-US" sz="1700" dirty="0"/>
          </a:p>
          <a:p>
            <a:pPr marL="342900" indent="-342900">
              <a:spcAft>
                <a:spcPts val="1200"/>
              </a:spcAft>
              <a:buSzPct val="100000"/>
              <a:buChar char="•"/>
            </a:pPr>
            <a:r>
              <a:rPr lang="en-US" sz="1700" dirty="0">
                <a:solidFill>
                  <a:schemeClr val="tx1"/>
                </a:solidFill>
              </a:rPr>
              <a:t>Authentication</a:t>
            </a:r>
            <a:endParaRPr lang="en-US" sz="1700" dirty="0"/>
          </a:p>
          <a:p>
            <a:pPr marL="342900" indent="-342900">
              <a:spcAft>
                <a:spcPts val="1200"/>
              </a:spcAft>
              <a:buSzPct val="100000"/>
              <a:buChar char="•"/>
            </a:pPr>
            <a:r>
              <a:rPr lang="en-US" sz="1700" dirty="0">
                <a:solidFill>
                  <a:schemeClr val="tx1"/>
                </a:solidFill>
              </a:rPr>
              <a:t>Key exchange</a:t>
            </a:r>
            <a:endParaRPr lang="en-US" sz="1700" dirty="0"/>
          </a:p>
          <a:p>
            <a:pPr marL="342900" indent="-342900">
              <a:spcAft>
                <a:spcPts val="1200"/>
              </a:spcAft>
              <a:buSzPct val="100000"/>
              <a:buChar char="•"/>
            </a:pPr>
            <a:r>
              <a:rPr lang="en-US" sz="1700" dirty="0">
                <a:solidFill>
                  <a:schemeClr val="tx1"/>
                </a:solidFill>
              </a:rPr>
              <a:t>Internet security</a:t>
            </a:r>
            <a:endParaRPr lang="en-US" sz="1700" dirty="0"/>
          </a:p>
        </p:txBody>
      </p:sp>
      <p:sp>
        <p:nvSpPr>
          <p:cNvPr id="7" name="Column card 2"/>
          <p:cNvSpPr/>
          <p:nvPr/>
        </p:nvSpPr>
        <p:spPr>
          <a:xfrm>
            <a:off x="4663440" y="1143000"/>
            <a:ext cx="4023360" cy="3383280"/>
          </a:xfrm>
          <a:prstGeom prst="roundRect">
            <a:avLst>
              <a:gd name="adj" fmla="val 2162"/>
            </a:avLst>
          </a:prstGeom>
          <a:solidFill>
            <a:schemeClr val="bg1"/>
          </a:solidFill>
          <a:ln w="12700">
            <a:solidFill>
              <a:schemeClr val="accent1"/>
            </a:solidFill>
            <a:prstDash val="solid"/>
          </a:ln>
        </p:spPr>
      </p:sp>
      <p:sp>
        <p:nvSpPr>
          <p:cNvPr id="8" name="Text 6"/>
          <p:cNvSpPr txBox="1"/>
          <p:nvPr/>
        </p:nvSpPr>
        <p:spPr>
          <a:xfrm>
            <a:off x="4846320" y="1234440"/>
            <a:ext cx="3657600" cy="411480"/>
          </a:xfrm>
          <a:prstGeom prst="rect">
            <a:avLst/>
          </a:prstGeom>
          <a:noFill/>
          <a:ln/>
        </p:spPr>
        <p:txBody>
          <a:bodyPr wrap="square" lIns="0" tIns="0" rIns="0" bIns="0" rtlCol="0" anchor="ctr"/>
          <a:lstStyle/>
          <a:p>
            <a:pPr marL="0" indent="0">
              <a:buNone/>
            </a:pPr>
            <a:r>
              <a:rPr lang="en-US" sz="2100" b="1" dirty="0">
                <a:solidFill>
                  <a:schemeClr val="accent1"/>
                </a:solidFill>
              </a:rPr>
              <a:t>Limits of our version</a:t>
            </a:r>
            <a:endParaRPr lang="en-US" sz="2100" dirty="0"/>
          </a:p>
        </p:txBody>
      </p:sp>
      <p:sp>
        <p:nvSpPr>
          <p:cNvPr id="9" name="Text 7"/>
          <p:cNvSpPr txBox="1"/>
          <p:nvPr/>
        </p:nvSpPr>
        <p:spPr>
          <a:xfrm>
            <a:off x="4846320" y="1783080"/>
            <a:ext cx="3657600" cy="265176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chemeClr val="tx1"/>
                </a:solidFill>
              </a:rPr>
              <a:t>Tiny primes: 391 is easily factored</a:t>
            </a:r>
            <a:endParaRPr lang="en-US" sz="1700" dirty="0"/>
          </a:p>
          <a:p>
            <a:pPr marL="342900" indent="-342900">
              <a:spcAft>
                <a:spcPts val="1200"/>
              </a:spcAft>
              <a:buSzPct val="100000"/>
              <a:buChar char="•"/>
            </a:pPr>
            <a:r>
              <a:rPr lang="en-US" sz="1700" dirty="0">
                <a:solidFill>
                  <a:schemeClr val="tx1"/>
                </a:solidFill>
              </a:rPr>
              <a:t>No padding: both l's give 301</a:t>
            </a:r>
            <a:endParaRPr lang="en-US" sz="1700" dirty="0"/>
          </a:p>
          <a:p>
            <a:pPr marL="342900" indent="-342900">
              <a:spcAft>
                <a:spcPts val="1200"/>
              </a:spcAft>
              <a:buSzPct val="100000"/>
              <a:buChar char="•"/>
            </a:pPr>
            <a:r>
              <a:rPr lang="en-US" sz="1700" dirty="0">
                <a:solidFill>
                  <a:schemeClr val="tx1"/>
                </a:solidFill>
              </a:rPr>
              <a:t>Real RSA: 2048-bit keys and OAEP padding</a:t>
            </a:r>
            <a:endParaRPr lang="en-US" sz="1700" dirty="0"/>
          </a:p>
        </p:txBody>
      </p:sp>
      <p:sp>
        <p:nvSpPr>
          <p:cNvPr id="10" name="Text 8"/>
          <p:cNvSpPr txBox="1"/>
          <p:nvPr/>
        </p:nvSpPr>
        <p:spPr>
          <a:xfrm>
            <a:off x="5943600" y="4800600"/>
            <a:ext cx="2743200" cy="274320"/>
          </a:xfrm>
          <a:prstGeom prst="rect">
            <a:avLst/>
          </a:prstGeom>
          <a:noFill/>
          <a:ln/>
        </p:spPr>
        <p:txBody>
          <a:bodyPr wrap="square" lIns="0" tIns="0" rIns="0" bIns="0" rtlCol="0" anchor="ctr"/>
          <a:lstStyle/>
          <a:p>
            <a:pPr marL="0" indent="0" algn="r">
              <a:buNone/>
            </a:pPr>
            <a:r>
              <a:rPr lang="en-US" sz="1000" dirty="0">
                <a:solidFill>
                  <a:schemeClr val="accent4"/>
                </a:solidFill>
              </a:rPr>
              <a:t>Member 4   |   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chemeClr val="bg2"/>
        </a:solidFill>
        <a:effectLst/>
      </p:bgPr>
    </p:bg>
    <p:spTree>
      <p:nvGrpSpPr>
        <p:cNvPr id="1" name=""/>
        <p:cNvGrpSpPr/>
        <p:nvPr/>
      </p:nvGrpSpPr>
      <p:grpSpPr>
        <a:xfrm>
          <a:off x="0" y="0"/>
          <a:ext cx="0" cy="0"/>
          <a:chOff x="0" y="0"/>
          <a:chExt cx="0" cy="0"/>
        </a:xfrm>
      </p:grpSpPr>
      <p:sp>
        <p:nvSpPr>
          <p:cNvPr id="2" name="Header band"/>
          <p:cNvSpPr/>
          <p:nvPr/>
        </p:nvSpPr>
        <p:spPr>
          <a:xfrm>
            <a:off x="0" y="0"/>
            <a:ext cx="9144000" cy="914400"/>
          </a:xfrm>
          <a:prstGeom prst="rect">
            <a:avLst/>
          </a:prstGeom>
          <a:solidFill>
            <a:schemeClr val="tx2"/>
          </a:solidFill>
          <a:ln/>
        </p:spPr>
      </p:sp>
      <p:sp>
        <p:nvSpPr>
          <p:cNvPr id="3" name="Text 1"/>
          <p:cNvSpPr txBox="1"/>
          <p:nvPr/>
        </p:nvSpPr>
        <p:spPr>
          <a:xfrm>
            <a:off x="457200" y="91440"/>
            <a:ext cx="8229600" cy="731520"/>
          </a:xfrm>
          <a:prstGeom prst="rect">
            <a:avLst/>
          </a:prstGeom>
          <a:noFill/>
          <a:ln/>
        </p:spPr>
        <p:txBody>
          <a:bodyPr wrap="square" lIns="0" tIns="0" rIns="0" bIns="0" rtlCol="0" anchor="ctr"/>
          <a:lstStyle/>
          <a:p>
            <a:pPr marL="0" indent="0">
              <a:buNone/>
            </a:pPr>
            <a:r>
              <a:rPr lang="en-US" sz="2600" b="1" dirty="0">
                <a:solidFill>
                  <a:schemeClr val="bg1"/>
                </a:solidFill>
              </a:rPr>
              <a:t>Conclusion</a:t>
            </a:r>
            <a:endParaRPr lang="en-US" sz="2600" dirty="0"/>
          </a:p>
        </p:txBody>
      </p:sp>
      <p:sp>
        <p:nvSpPr>
          <p:cNvPr id="4" name="Text 2"/>
          <p:cNvSpPr txBox="1"/>
          <p:nvPr/>
        </p:nvSpPr>
        <p:spPr>
          <a:xfrm>
            <a:off x="548640" y="1188720"/>
            <a:ext cx="8046720" cy="2651760"/>
          </a:xfrm>
          <a:prstGeom prst="rect">
            <a:avLst/>
          </a:prstGeom>
          <a:noFill/>
          <a:ln/>
        </p:spPr>
        <p:txBody>
          <a:bodyPr wrap="square" rtlCol="0" anchor="t"/>
          <a:lstStyle/>
          <a:p>
            <a:pPr marL="342900" indent="-342900">
              <a:spcAft>
                <a:spcPts val="1200"/>
              </a:spcAft>
              <a:buSzPct val="100000"/>
              <a:buChar char="•"/>
            </a:pPr>
            <a:r>
              <a:rPr lang="en-US" sz="2000" dirty="0">
                <a:solidFill>
                  <a:schemeClr val="tx1"/>
                </a:solidFill>
              </a:rPr>
              <a:t>Number theory powers RSA key generation</a:t>
            </a:r>
            <a:endParaRPr lang="en-US" sz="2000" dirty="0"/>
          </a:p>
          <a:p>
            <a:pPr marL="342900" indent="-342900">
              <a:spcAft>
                <a:spcPts val="1200"/>
              </a:spcAft>
              <a:buSzPct val="100000"/>
              <a:buChar char="•"/>
            </a:pPr>
            <a:r>
              <a:rPr lang="en-US" sz="2000" dirty="0">
                <a:solidFill>
                  <a:schemeClr val="tx1"/>
                </a:solidFill>
              </a:rPr>
              <a:t>Primes and Euler's Totient generate the keys</a:t>
            </a:r>
            <a:endParaRPr lang="en-US" sz="2000" dirty="0"/>
          </a:p>
          <a:p>
            <a:pPr marL="342900" indent="-342900">
              <a:spcAft>
                <a:spcPts val="1200"/>
              </a:spcAft>
              <a:buSzPct val="100000"/>
              <a:buChar char="•"/>
            </a:pPr>
            <a:r>
              <a:rPr lang="en-US" sz="2000" dirty="0">
                <a:solidFill>
                  <a:schemeClr val="tx1"/>
                </a:solidFill>
              </a:rPr>
              <a:t>Modular arithmetic encrypts and decrypts</a:t>
            </a:r>
            <a:endParaRPr lang="en-US" sz="2000" dirty="0"/>
          </a:p>
          <a:p>
            <a:pPr marL="342900" indent="-342900">
              <a:spcAft>
                <a:spcPts val="1200"/>
              </a:spcAft>
              <a:buSzPct val="100000"/>
              <a:buChar char="•"/>
            </a:pPr>
            <a:r>
              <a:rPr lang="en-US" sz="2000" dirty="0">
                <a:solidFill>
                  <a:schemeClr val="tx1"/>
                </a:solidFill>
              </a:rPr>
              <a:t>Our Python program recovers the message correctly</a:t>
            </a:r>
            <a:endParaRPr lang="en-US" sz="2000" dirty="0"/>
          </a:p>
        </p:txBody>
      </p:sp>
      <p:sp>
        <p:nvSpPr>
          <p:cNvPr id="5" name="Text 3"/>
          <p:cNvSpPr txBox="1"/>
          <p:nvPr/>
        </p:nvSpPr>
        <p:spPr>
          <a:xfrm>
            <a:off x="457200" y="4023360"/>
            <a:ext cx="8229600" cy="548640"/>
          </a:xfrm>
          <a:prstGeom prst="rect">
            <a:avLst/>
          </a:prstGeom>
          <a:solidFill>
            <a:schemeClr val="accent1"/>
          </a:solidFill>
          <a:ln/>
        </p:spPr>
        <p:txBody>
          <a:bodyPr wrap="square" rtlCol="0" anchor="ctr"/>
          <a:lstStyle/>
          <a:p>
            <a:pPr marL="0" indent="0" algn="ctr">
              <a:buNone/>
            </a:pPr>
            <a:r>
              <a:rPr lang="en-US" sz="2200" b="1" dirty="0">
                <a:solidFill>
                  <a:schemeClr val="bg1"/>
                </a:solidFill>
              </a:rPr>
              <a:t>Thank you  |  Questions?</a:t>
            </a:r>
            <a:endParaRPr lang="en-US" sz="2200" dirty="0"/>
          </a:p>
        </p:txBody>
      </p:sp>
      <p:sp>
        <p:nvSpPr>
          <p:cNvPr id="6" name="Text 4"/>
          <p:cNvSpPr txBox="1"/>
          <p:nvPr/>
        </p:nvSpPr>
        <p:spPr>
          <a:xfrm>
            <a:off x="5943600" y="4800600"/>
            <a:ext cx="2743200" cy="274320"/>
          </a:xfrm>
          <a:prstGeom prst="rect">
            <a:avLst/>
          </a:prstGeom>
          <a:noFill/>
          <a:ln/>
        </p:spPr>
        <p:txBody>
          <a:bodyPr wrap="square" lIns="0" tIns="0" rIns="0" bIns="0" rtlCol="0" anchor="ctr"/>
          <a:lstStyle/>
          <a:p>
            <a:pPr marL="0" indent="0" algn="r">
              <a:buNone/>
            </a:pPr>
            <a:r>
              <a:rPr lang="en-US" sz="1000" dirty="0">
                <a:solidFill>
                  <a:schemeClr val="accent4"/>
                </a:solidFill>
              </a:rPr>
              <a:t>Member 4   |   12</a:t>
            </a:r>
            <a:endParaRPr lang="en-US" sz="1000" dirty="0"/>
          </a:p>
        </p:txBody>
      </p:sp>
    </p:spTree>
  </p:cSld>
  <p:clrMapOvr>
    <a:masterClrMapping/>
  </p:clrMapOvr>
</p:sld>
</file>

<file path=ppt/theme/theme1.xml><?xml version="1.0" encoding="utf-8"?>
<a:theme xmlns:a="http://schemas.openxmlformats.org/drawingml/2006/main" name="RSA Mini Project">
  <a:themeElements>
    <a:clrScheme name="RSA Mini Project">
      <a:dk1>
        <a:srgbClr val="1B2437"/>
      </a:dk1>
      <a:lt1>
        <a:srgbClr val="FFFFFF"/>
      </a:lt1>
      <a:dk2>
        <a:srgbClr val="1F2A44"/>
      </a:dk2>
      <a:lt2>
        <a:srgbClr val="F3F6FA"/>
      </a:lt2>
      <a:accent1>
        <a:srgbClr val="0E7C86"/>
      </a:accent1>
      <a:accent2>
        <a:srgbClr val="E07A1F"/>
      </a:accent2>
      <a:accent3>
        <a:srgbClr val="3A5BA0"/>
      </a:accent3>
      <a:accent4>
        <a:srgbClr val="6B7A90"/>
      </a:accent4>
      <a:accent5>
        <a:srgbClr val="2E9E6B"/>
      </a:accent5>
      <a:accent6>
        <a:srgbClr val="B23A48"/>
      </a:accent6>
      <a:hlink>
        <a:srgbClr val="0E7C86"/>
      </a:hlink>
      <a:folHlink>
        <a:srgbClr val="6B7A90"/>
      </a:folHlink>
    </a:clrScheme>
    <a:fontScheme name="RSA Mini Project">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1477</Words>
  <Application>Microsoft Office PowerPoint</Application>
  <PresentationFormat>On-screen Show (16:9)</PresentationFormat>
  <Paragraphs>172</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Consolas</vt:lpstr>
      <vt:lpstr>RSA Mini Project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RSA Encryption and Decryption Using Number Theory</dc:title>
  <dc:subject>PptxGenJS Presentation</dc:subject>
  <dc:creator>PptxGenJS</dc:creator>
  <cp:lastModifiedBy>DIKSHA GUNJAL</cp:lastModifiedBy>
  <cp:revision>2</cp:revision>
  <dcterms:created xsi:type="dcterms:W3CDTF">2026-10-04T16:49:05Z</dcterms:created>
  <dcterms:modified xsi:type="dcterms:W3CDTF">2026-10-12T14:11:49Z</dcterms:modified>
</cp:coreProperties>
</file>